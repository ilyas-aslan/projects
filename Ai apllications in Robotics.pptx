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4"/>
  </p:sldMasterIdLst>
  <p:notesMasterIdLst>
    <p:notesMasterId r:id="rId19"/>
  </p:notesMasterIdLst>
  <p:sldIdLst>
    <p:sldId id="256" r:id="rId5"/>
    <p:sldId id="259" r:id="rId6"/>
    <p:sldId id="260" r:id="rId7"/>
    <p:sldId id="261" r:id="rId8"/>
    <p:sldId id="262" r:id="rId9"/>
    <p:sldId id="263" r:id="rId10"/>
    <p:sldId id="280" r:id="rId11"/>
    <p:sldId id="281" r:id="rId12"/>
    <p:sldId id="279" r:id="rId13"/>
    <p:sldId id="278" r:id="rId14"/>
    <p:sldId id="283" r:id="rId15"/>
    <p:sldId id="285" r:id="rId16"/>
    <p:sldId id="284" r:id="rId17"/>
    <p:sldId id="282" r:id="rId1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A6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B88D02-6601-DA05-C2EA-3B3767BEC799}" v="588" dt="2024-12-15T19:03:17.553"/>
    <p1510:client id="{318E1E7E-1889-998F-796B-D4F79C193414}" v="307" dt="2024-12-15T20:01:57.559"/>
    <p1510:client id="{7E53DF21-5C77-43EC-C778-6ABE9E7A5B96}" v="63" dt="2024-12-15T21:58:48.685"/>
    <p1510:client id="{8EF190FF-3193-804C-D783-DEED7480C7D7}" v="2016" dt="2024-12-15T17:19:31.928"/>
    <p1510:client id="{A8011788-8B40-B153-4157-86AC665F8EBA}" v="113" dt="2024-12-16T14:27:23.667"/>
    <p1510:client id="{C977FE7D-E4DE-C54E-30B5-0B0C25ADC4B0}" v="4" dt="2024-12-15T22:55:59.879"/>
    <p1510:client id="{F6118A28-9143-4712-82D2-4CAE76E69937}" v="2360" dt="2024-12-16T14:31:21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8A6363-EE1F-43A6-BAD0-8DB8925AAC70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AF38D-22B0-487E-9025-348F5F594C1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6974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AF38D-22B0-487E-9025-348F5F594C1B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1147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AF38D-22B0-487E-9025-348F5F594C1B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2075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AF38D-22B0-487E-9025-348F5F594C1B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321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4FFA7C-8D8E-65E5-5548-E5D2A6AC8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ECFDC98-BA3B-715F-7FAA-60ABFECB1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BB424D2-5416-B80E-CD11-60BC3926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9F7B4E4-5D6F-958B-D1B1-D9FA794E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AA12F11-7F35-70B6-7EE0-73545700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5037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B65B26-4859-B34B-32A4-C51EC960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DFB494C-906E-7E67-5122-565A4E094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006A836-A3EE-ABA1-6360-683E139C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2BC6E21-17D1-A5F7-2184-E15B9596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F9C0BBF-DB19-9F3D-6719-1B869D5E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44703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709A06-26A7-2C8D-DA2E-8B65F9778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F4F97D7-D66A-C922-CD78-3CDC8F77E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6A12BC-8766-141C-CE8E-DA27A78B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BBF69A1-BD2D-F4A8-9A05-86BDCD62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27FC452-9465-CD7B-905D-04F07C4B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0113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52AE3A-237E-73EB-2B8D-0680A56B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F3FB647-1C48-C2BA-A4C7-CF49C5C3C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19E6CF0-3013-6283-8B0E-563E1460E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FAEEA0A-CF08-EB6E-4518-99F683A9C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FC16D75-F496-2B0B-0DD9-37628B13B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98E4623-5B44-A685-3463-3E5B7775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6249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9D8828-AB11-F727-E9A8-2FBAAE6F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EC48DEE-0900-8773-243E-479C9D2E6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5200CEC-1465-5C73-82E5-07466023D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005A86F-5646-7F18-8456-2A1F60CE9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D8040DB-3CAF-9D61-B9FC-57B5EFA4A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7BFD030-7C82-6486-2101-23CC6742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F89A08E9-FFD6-B087-D791-0814670EB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D9CF849-3B01-DD3B-65F0-D91164E5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9308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7D61F9-1B05-A602-1C20-A0DD67E2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F7FD908-AB80-AF3E-1B48-5C09B73B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78E4131-5F2F-2FB4-9F0B-953975847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CDC7D5E-FD3C-1282-40CE-8545BFE4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9120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B03E58D-1824-2ADB-8C96-BCE6FB71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BFD542F-F012-C6D4-40A2-794CF148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D621574-29D7-82BA-BABB-CF5EC51E6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5937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28F4AA-AE46-761B-57DC-ED0B839A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54D1B1-C234-A752-A3FB-EDCB81381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894F90B-40C8-F212-936E-0277E1DF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EE81258-E276-9260-6280-AB95CC1ED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F6779C6-41BB-F64B-42C0-E09EB18F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636AD06-FF06-F28D-D184-383E6E89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9053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1B1B08-915C-DAEF-20C6-B21ADEA5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A17CC5B-6B9B-2DE9-6EBE-F2A23A39D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35D5B4D-207B-5C25-9B42-ECBC2C291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2230CDC-62D9-98F1-7C07-9B28FAF2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6B20D88-20BE-11C9-DC21-35AA4722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CC873DE-3204-B671-ADD5-331EF8EB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2159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53CEC2-C1FE-581B-A650-843F272F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4D84E5A-A970-0590-14FD-02ACD6C7A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CDCFA41-086B-6C43-6F42-714E0AF14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528020C-C1D9-E0BC-03AE-3B3B71A79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B139155-FA22-5ADA-8662-B9939D83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9230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F9DACEE-AEAF-9C53-1AFA-A59A233F9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DD81E73-9016-E104-3AED-2611107B8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C823CC5-D65C-0E70-E69E-5731E14C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F312792-FD0C-F0A4-2752-1DDDD19E9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5B53BB-074E-94B2-0F5E-C76D6206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8673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2766DE5-6CDE-E2E9-0629-0580E177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81A6925-474D-6827-85B0-23E055BDD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0EA3581-56CD-355F-B2AD-8BF7302B8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32BE1-279E-4118-9FE3-7952B079A5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6D2BE65-8415-2C17-3342-88A310896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36FA59A-8BBD-825C-067A-9AE9F23D8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6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E91D119-2A6B-F693-571D-4FCBD2533968}"/>
              </a:ext>
            </a:extLst>
          </p:cNvPr>
          <p:cNvSpPr txBox="1"/>
          <p:nvPr/>
        </p:nvSpPr>
        <p:spPr>
          <a:xfrm>
            <a:off x="3808705" y="1094274"/>
            <a:ext cx="7119191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tr-TR" sz="4400">
                <a:solidFill>
                  <a:schemeClr val="accent3">
                    <a:lumMod val="75000"/>
                  </a:schemeClr>
                </a:solidFill>
              </a:rPr>
              <a:t>AI Applications in </a:t>
            </a:r>
            <a:r>
              <a:rPr lang="en-US" sz="4400">
                <a:solidFill>
                  <a:schemeClr val="accent3">
                    <a:lumMod val="75000"/>
                  </a:schemeClr>
                </a:solidFill>
              </a:rPr>
              <a:t>Robotics</a:t>
            </a:r>
          </a:p>
          <a:p>
            <a:pPr algn="ctr"/>
            <a:r>
              <a:rPr lang="tr-TR">
                <a:solidFill>
                  <a:schemeClr val="accent2">
                    <a:lumMod val="75000"/>
                  </a:schemeClr>
                </a:solidFill>
              </a:rPr>
              <a:t>(HUMANOID ROBOTS)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5ED44A7-296C-11B5-C404-EA7A0B3B28C7}"/>
              </a:ext>
            </a:extLst>
          </p:cNvPr>
          <p:cNvSpPr txBox="1"/>
          <p:nvPr/>
        </p:nvSpPr>
        <p:spPr>
          <a:xfrm>
            <a:off x="6522098" y="3200400"/>
            <a:ext cx="523447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>
                <a:solidFill>
                  <a:schemeClr val="accent1"/>
                </a:solidFill>
              </a:rPr>
              <a:t>Prepared</a:t>
            </a:r>
            <a:r>
              <a:rPr lang="tr-TR">
                <a:solidFill>
                  <a:schemeClr val="accent1"/>
                </a:solidFill>
              </a:rPr>
              <a:t> </a:t>
            </a:r>
            <a:r>
              <a:rPr lang="tr-TR" err="1">
                <a:solidFill>
                  <a:schemeClr val="accent1"/>
                </a:solidFill>
              </a:rPr>
              <a:t>by</a:t>
            </a:r>
            <a:r>
              <a:rPr lang="tr-TR"/>
              <a:t>:</a:t>
            </a:r>
          </a:p>
          <a:p>
            <a:r>
              <a:rPr lang="tr-TR"/>
              <a:t>İlyas Aslan: 2230765041</a:t>
            </a:r>
          </a:p>
          <a:p>
            <a:r>
              <a:rPr lang="tr-TR"/>
              <a:t>Kasım Aktaş: 2230765031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8A442-3C98-379C-CA71-7072D4B6B6D6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Actuator</a:t>
            </a:r>
          </a:p>
        </p:txBody>
      </p:sp>
    </p:spTree>
    <p:extLst>
      <p:ext uri="{BB962C8B-B14F-4D97-AF65-F5344CB8AC3E}">
        <p14:creationId xmlns:p14="http://schemas.microsoft.com/office/powerpoint/2010/main" val="20625760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E91D119-2A6B-F693-571D-4FCBD2533968}"/>
              </a:ext>
            </a:extLst>
          </p:cNvPr>
          <p:cNvSpPr txBox="1"/>
          <p:nvPr/>
        </p:nvSpPr>
        <p:spPr>
          <a:xfrm>
            <a:off x="3592396" y="541148"/>
            <a:ext cx="7119191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tr-TR" sz="4400" err="1">
                <a:solidFill>
                  <a:schemeClr val="accent3">
                    <a:lumMod val="75000"/>
                  </a:schemeClr>
                </a:solidFill>
              </a:rPr>
              <a:t>Contents</a:t>
            </a:r>
            <a:endParaRPr lang="tr-TR" sz="44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5ED44A7-296C-11B5-C404-EA7A0B3B28C7}"/>
              </a:ext>
            </a:extLst>
          </p:cNvPr>
          <p:cNvSpPr txBox="1"/>
          <p:nvPr/>
        </p:nvSpPr>
        <p:spPr>
          <a:xfrm>
            <a:off x="5170455" y="3245757"/>
            <a:ext cx="523447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tr-TR"/>
          </a:p>
        </p:txBody>
      </p:sp>
      <p:sp useBgFill="1">
        <p:nvSpPr>
          <p:cNvPr id="2" name="TextBox 1">
            <a:extLst>
              <a:ext uri="{FF2B5EF4-FFF2-40B4-BE49-F238E27FC236}">
                <a16:creationId xmlns:a16="http://schemas.microsoft.com/office/drawing/2014/main" id="{DE4ABF4A-86A6-F073-E15E-AEFCD731886D}"/>
              </a:ext>
            </a:extLst>
          </p:cNvPr>
          <p:cNvSpPr txBox="1"/>
          <p:nvPr/>
        </p:nvSpPr>
        <p:spPr>
          <a:xfrm>
            <a:off x="4227441" y="1914608"/>
            <a:ext cx="7119191" cy="448436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Brief history of</a:t>
            </a:r>
            <a:r>
              <a:rPr lang="tr-TR" b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tr-TR" b="1" err="1">
                <a:solidFill>
                  <a:schemeClr val="accent2">
                    <a:lumMod val="75000"/>
                  </a:schemeClr>
                </a:solidFill>
              </a:rPr>
              <a:t>humanoid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 robots</a:t>
            </a:r>
            <a:endParaRPr lang="tr-TR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Some examples of human</a:t>
            </a:r>
            <a:r>
              <a:rPr lang="tr-TR" b="1">
                <a:solidFill>
                  <a:schemeClr val="accent2">
                    <a:lumMod val="75000"/>
                  </a:schemeClr>
                </a:solidFill>
              </a:rPr>
              <a:t>id </a:t>
            </a:r>
            <a:r>
              <a:rPr lang="tr-TR" b="1" err="1">
                <a:solidFill>
                  <a:schemeClr val="accent2">
                    <a:lumMod val="75000"/>
                  </a:schemeClr>
                </a:solidFill>
              </a:rPr>
              <a:t>robots</a:t>
            </a:r>
            <a:endParaRPr lang="en-US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Working mechanisms </a:t>
            </a:r>
            <a:r>
              <a:rPr lang="en" b="1">
                <a:solidFill>
                  <a:schemeClr val="accent2">
                    <a:lumMod val="75000"/>
                  </a:schemeClr>
                </a:solidFill>
                <a:latin typeface="Neue Haas Grotesk Text Pro"/>
              </a:rPr>
              <a:t>related to ai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 in Humanoid Robots</a:t>
            </a:r>
            <a:endParaRPr lang="tr-TR" b="1">
              <a:solidFill>
                <a:schemeClr val="accent2">
                  <a:lumMod val="75000"/>
                </a:schemeClr>
              </a:solidFill>
            </a:endParaRPr>
          </a:p>
          <a:p>
            <a:pPr marL="1200150" lvl="1" indent="-285750">
              <a:lnSpc>
                <a:spcPct val="150000"/>
              </a:lnSpc>
              <a:buFont typeface="Courier New"/>
              <a:buChar char="o"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Understanding and creating voice</a:t>
            </a:r>
          </a:p>
          <a:p>
            <a:pPr marL="1200150" lvl="1" indent="-285750">
              <a:buFont typeface="Courier New"/>
              <a:buChar char="o"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Visual perception</a:t>
            </a:r>
          </a:p>
          <a:p>
            <a:pPr marL="1200150" lvl="1" indent="-285750">
              <a:buFont typeface="Courier New"/>
              <a:buChar char="o"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Aptos"/>
              </a:rPr>
              <a:t>Pathfinding</a:t>
            </a:r>
          </a:p>
          <a:p>
            <a:pPr marL="1200150" lvl="1" indent="-285750">
              <a:buFont typeface="Courier New"/>
              <a:buChar char="o"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Aptos"/>
              </a:rPr>
              <a:t>Touch perception</a:t>
            </a:r>
          </a:p>
          <a:p>
            <a:pPr marL="1200150" lvl="1" indent="-285750">
              <a:buFont typeface="Courier New"/>
              <a:buChar char="o"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Aptos"/>
              </a:rPr>
              <a:t>Effective movement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Economic aspects of Humanoid Robots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Ethic</a:t>
            </a:r>
            <a:r>
              <a:rPr lang="tr-TR" b="1">
                <a:solidFill>
                  <a:schemeClr val="accent2">
                    <a:lumMod val="75000"/>
                  </a:schemeClr>
                </a:solidFill>
              </a:rPr>
              <a:t>s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 aspect</a:t>
            </a:r>
            <a:r>
              <a:rPr lang="tr-TR" b="1">
                <a:solidFill>
                  <a:schemeClr val="accent2">
                    <a:lumMod val="75000"/>
                  </a:schemeClr>
                </a:solidFill>
              </a:rPr>
              <a:t>s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 of Humanoid Robots</a:t>
            </a:r>
            <a:endParaRPr lang="tr-TR" b="1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Future of humanoid robots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274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Başlık 1">
            <a:extLst>
              <a:ext uri="{FF2B5EF4-FFF2-40B4-BE49-F238E27FC236}">
                <a16:creationId xmlns:a16="http://schemas.microsoft.com/office/drawing/2014/main" id="{883B0C31-674A-76D6-0680-CE0ECA4C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Brief 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H</a:t>
            </a:r>
            <a:r>
              <a:rPr lang="en-US" err="1">
                <a:solidFill>
                  <a:schemeClr val="accent3">
                    <a:lumMod val="75000"/>
                  </a:schemeClr>
                </a:solidFill>
              </a:rPr>
              <a:t>istory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 of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err="1">
                <a:solidFill>
                  <a:schemeClr val="accent3">
                    <a:lumMod val="75000"/>
                  </a:schemeClr>
                </a:solidFill>
              </a:rPr>
              <a:t>Humanoid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R</a:t>
            </a:r>
            <a:r>
              <a:rPr lang="en-US" err="1">
                <a:solidFill>
                  <a:schemeClr val="accent3">
                    <a:lumMod val="75000"/>
                  </a:schemeClr>
                </a:solidFill>
              </a:rPr>
              <a:t>obots</a:t>
            </a:r>
            <a:br>
              <a:rPr lang="en-US"/>
            </a:b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C9353C-FBE4-AE8B-4846-B93EF2A1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926" y="1355899"/>
            <a:ext cx="8981161" cy="4476598"/>
          </a:xfr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2400"/>
              <a:t>First </a:t>
            </a:r>
            <a:r>
              <a:rPr lang="tr-TR" sz="2400" err="1"/>
              <a:t>usage</a:t>
            </a:r>
            <a:r>
              <a:rPr lang="tr-TR" sz="2400"/>
              <a:t> of "Robot", Karel</a:t>
            </a:r>
            <a:r>
              <a:rPr lang="tr-TR" sz="2400">
                <a:ea typeface="+mn-lt"/>
                <a:cs typeface="+mn-lt"/>
              </a:rPr>
              <a:t> </a:t>
            </a:r>
            <a:r>
              <a:rPr lang="tr-TR" sz="2400" err="1">
                <a:ea typeface="+mn-lt"/>
                <a:cs typeface="+mn-lt"/>
              </a:rPr>
              <a:t>Capek</a:t>
            </a:r>
            <a:endParaRPr lang="tr-TR" sz="24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tr-TR" sz="24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tr-TR" sz="2400">
                <a:ea typeface="+mn-lt"/>
                <a:cs typeface="+mn-lt"/>
              </a:rPr>
              <a:t>Leonardo da Vinci </a:t>
            </a:r>
            <a:r>
              <a:rPr lang="tr-TR" sz="2400" err="1">
                <a:ea typeface="+mn-lt"/>
                <a:cs typeface="+mn-lt"/>
              </a:rPr>
              <a:t>created</a:t>
            </a:r>
            <a:r>
              <a:rPr lang="tr-TR" sz="2400">
                <a:ea typeface="+mn-lt"/>
                <a:cs typeface="+mn-lt"/>
              </a:rPr>
              <a:t> a </a:t>
            </a:r>
            <a:r>
              <a:rPr lang="tr-TR" sz="2400" err="1">
                <a:ea typeface="+mn-lt"/>
                <a:cs typeface="+mn-lt"/>
              </a:rPr>
              <a:t>mechanical</a:t>
            </a:r>
            <a:r>
              <a:rPr lang="tr-TR" sz="2400">
                <a:ea typeface="+mn-lt"/>
                <a:cs typeface="+mn-lt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400">
                <a:ea typeface="+mn-lt"/>
                <a:cs typeface="+mn-lt"/>
              </a:rPr>
              <a:t>robot </a:t>
            </a:r>
            <a:r>
              <a:rPr lang="tr-TR" sz="2400" err="1">
                <a:ea typeface="+mn-lt"/>
                <a:cs typeface="+mn-lt"/>
              </a:rPr>
              <a:t>knight</a:t>
            </a:r>
            <a:r>
              <a:rPr lang="tr-TR" sz="2400">
                <a:ea typeface="+mn-lt"/>
                <a:cs typeface="+mn-lt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tr-TR" sz="24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tr-TR" sz="2400">
                <a:ea typeface="+mn-lt"/>
                <a:cs typeface="+mn-lt"/>
              </a:rPr>
              <a:t>First </a:t>
            </a:r>
            <a:r>
              <a:rPr lang="tr-TR" sz="2400" err="1">
                <a:ea typeface="+mn-lt"/>
                <a:cs typeface="+mn-lt"/>
              </a:rPr>
              <a:t>humanoid</a:t>
            </a:r>
            <a:r>
              <a:rPr lang="tr-TR" sz="2400">
                <a:ea typeface="+mn-lt"/>
                <a:cs typeface="+mn-lt"/>
              </a:rPr>
              <a:t> robot </a:t>
            </a:r>
            <a:r>
              <a:rPr lang="tr-TR" sz="2400" err="1">
                <a:ea typeface="+mn-lt"/>
                <a:cs typeface="+mn-lt"/>
              </a:rPr>
              <a:t>named</a:t>
            </a:r>
            <a:r>
              <a:rPr lang="tr-TR" sz="2400">
                <a:ea typeface="+mn-lt"/>
                <a:cs typeface="+mn-lt"/>
              </a:rPr>
              <a:t> Elektro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400">
                <a:ea typeface="+mn-lt"/>
                <a:cs typeface="+mn-lt"/>
              </a:rPr>
              <a:t> </a:t>
            </a:r>
            <a:r>
              <a:rPr lang="tr-TR" sz="2400" err="1">
                <a:ea typeface="+mn-lt"/>
                <a:cs typeface="+mn-lt"/>
              </a:rPr>
              <a:t>was</a:t>
            </a:r>
            <a:r>
              <a:rPr lang="tr-TR" sz="2400">
                <a:ea typeface="+mn-lt"/>
                <a:cs typeface="+mn-lt"/>
              </a:rPr>
              <a:t> </a:t>
            </a:r>
            <a:r>
              <a:rPr lang="tr-TR" sz="2400" err="1">
                <a:ea typeface="+mn-lt"/>
                <a:cs typeface="+mn-lt"/>
              </a:rPr>
              <a:t>created</a:t>
            </a:r>
            <a:r>
              <a:rPr lang="tr-TR" sz="2400">
                <a:ea typeface="+mn-lt"/>
                <a:cs typeface="+mn-lt"/>
              </a:rPr>
              <a:t> </a:t>
            </a:r>
            <a:r>
              <a:rPr lang="tr-TR" sz="2400" err="1">
                <a:ea typeface="+mn-lt"/>
                <a:cs typeface="+mn-lt"/>
              </a:rPr>
              <a:t>by</a:t>
            </a:r>
            <a:r>
              <a:rPr lang="tr-TR" sz="2400">
                <a:ea typeface="+mn-lt"/>
                <a:cs typeface="+mn-lt"/>
              </a:rPr>
              <a:t> </a:t>
            </a:r>
            <a:r>
              <a:rPr lang="tr-TR" sz="2400" err="1">
                <a:ea typeface="+mn-lt"/>
                <a:cs typeface="+mn-lt"/>
              </a:rPr>
              <a:t>Westinghouse</a:t>
            </a:r>
            <a:r>
              <a:rPr lang="tr-TR" sz="2400">
                <a:ea typeface="+mn-lt"/>
                <a:cs typeface="+mn-lt"/>
              </a:rPr>
              <a:t> </a:t>
            </a:r>
            <a:r>
              <a:rPr lang="tr-TR" sz="2400" err="1">
                <a:ea typeface="+mn-lt"/>
                <a:cs typeface="+mn-lt"/>
              </a:rPr>
              <a:t>Electric</a:t>
            </a:r>
            <a:r>
              <a:rPr lang="tr-TR" sz="2400">
                <a:ea typeface="+mn-lt"/>
                <a:cs typeface="+mn-lt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400">
                <a:ea typeface="+mn-lt"/>
                <a:cs typeface="+mn-lt"/>
              </a:rPr>
              <a:t>Corporation.</a:t>
            </a:r>
            <a:endParaRPr lang="tr-TR" sz="2400"/>
          </a:p>
          <a:p>
            <a:endParaRPr lang="tr-TR"/>
          </a:p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5DB0D1C-ACF1-0331-FC60-8A467B0C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39CAC5AC-1784-A567-27D3-8EBFB23EC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262" y="1353964"/>
            <a:ext cx="3358331" cy="447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6350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3000"/>
            <a:lum/>
          </a:blip>
          <a:srcRect/>
          <a:stretch>
            <a:fillRect l="-23000" r="-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Başlık 1">
            <a:extLst>
              <a:ext uri="{FF2B5EF4-FFF2-40B4-BE49-F238E27FC236}">
                <a16:creationId xmlns:a16="http://schemas.microsoft.com/office/drawing/2014/main" id="{8133E899-6990-FA09-DE26-78555025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err="1">
                <a:solidFill>
                  <a:schemeClr val="accent3">
                    <a:lumMod val="75000"/>
                  </a:schemeClr>
                </a:solidFill>
              </a:rPr>
              <a:t>Some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err="1">
                <a:solidFill>
                  <a:schemeClr val="accent3">
                    <a:lumMod val="75000"/>
                  </a:schemeClr>
                </a:solidFill>
              </a:rPr>
              <a:t>Examples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 of </a:t>
            </a:r>
            <a:r>
              <a:rPr lang="tr-TR" err="1">
                <a:solidFill>
                  <a:schemeClr val="accent3">
                    <a:lumMod val="75000"/>
                  </a:schemeClr>
                </a:solidFill>
              </a:rPr>
              <a:t>Humanoid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 R</a:t>
            </a:r>
            <a:r>
              <a:rPr lang="en-US" err="1">
                <a:solidFill>
                  <a:schemeClr val="accent3">
                    <a:lumMod val="75000"/>
                  </a:schemeClr>
                </a:solidFill>
              </a:rPr>
              <a:t>obots</a:t>
            </a:r>
            <a:br>
              <a:rPr lang="en-US"/>
            </a:b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ED98F4F-F562-5A0A-BEFC-2A0675D4B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B2CC79A-28BA-84B4-C68B-E97BA0BA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  <p:pic>
        <p:nvPicPr>
          <p:cNvPr id="23" name="Resim 22" descr="metin, ekran görüntüsü, bisiklet içeren bir resim&#10;&#10;Açıklama otomatik olarak oluşturuldu">
            <a:extLst>
              <a:ext uri="{FF2B5EF4-FFF2-40B4-BE49-F238E27FC236}">
                <a16:creationId xmlns:a16="http://schemas.microsoft.com/office/drawing/2014/main" id="{B6A54014-1964-F1FA-896F-FBA74BCC0F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" t="-694" r="79116" b="-9833"/>
          <a:stretch/>
        </p:blipFill>
        <p:spPr>
          <a:xfrm>
            <a:off x="639967" y="2767725"/>
            <a:ext cx="1293716" cy="1454949"/>
          </a:xfrm>
          <a:prstGeom prst="rect">
            <a:avLst/>
          </a:prstGeom>
        </p:spPr>
      </p:pic>
      <p:pic>
        <p:nvPicPr>
          <p:cNvPr id="25" name="Resim 24" descr="metin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DFAD30F4-C816-9FF1-34D0-4CAF0F0A1D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5" t="180" r="79142" b="-180"/>
          <a:stretch/>
        </p:blipFill>
        <p:spPr>
          <a:xfrm>
            <a:off x="638810" y="4237262"/>
            <a:ext cx="1256228" cy="1200329"/>
          </a:xfrm>
          <a:prstGeom prst="rect">
            <a:avLst/>
          </a:prstGeom>
        </p:spPr>
      </p:pic>
      <p:pic>
        <p:nvPicPr>
          <p:cNvPr id="9" name="Picture 8" descr="Mitsubishi Move Master II RM-501 - MSX Wiki">
            <a:extLst>
              <a:ext uri="{FF2B5EF4-FFF2-40B4-BE49-F238E27FC236}">
                <a16:creationId xmlns:a16="http://schemas.microsoft.com/office/drawing/2014/main" id="{C243064D-49F1-DE7A-DEEB-FC6B384F50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00" y="1200410"/>
            <a:ext cx="1293716" cy="1437307"/>
          </a:xfrm>
          <a:prstGeom prst="rect">
            <a:avLst/>
          </a:prstGeom>
        </p:spPr>
      </p:pic>
      <p:sp useBgFill="1">
        <p:nvSpPr>
          <p:cNvPr id="10" name="TextBox 9">
            <a:extLst>
              <a:ext uri="{FF2B5EF4-FFF2-40B4-BE49-F238E27FC236}">
                <a16:creationId xmlns:a16="http://schemas.microsoft.com/office/drawing/2014/main" id="{0DC4DD1A-0AF8-F462-2F0E-79734BED5944}"/>
              </a:ext>
            </a:extLst>
          </p:cNvPr>
          <p:cNvSpPr txBox="1"/>
          <p:nvPr/>
        </p:nvSpPr>
        <p:spPr>
          <a:xfrm>
            <a:off x="1937516" y="1300554"/>
            <a:ext cx="3611670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1987 Mitsubishi </a:t>
            </a:r>
            <a:r>
              <a:rPr lang="en-US" b="1" err="1"/>
              <a:t>Movemaster</a:t>
            </a:r>
            <a:r>
              <a:rPr lang="en-US" b="1"/>
              <a:t>: </a:t>
            </a:r>
          </a:p>
          <a:p>
            <a:r>
              <a:rPr lang="en-US" b="1"/>
              <a:t>It was the first small robotic arm gripper which could perform tasks.</a:t>
            </a:r>
          </a:p>
        </p:txBody>
      </p:sp>
      <p:sp useBgFill="1">
        <p:nvSpPr>
          <p:cNvPr id="12" name="TextBox 11">
            <a:extLst>
              <a:ext uri="{FF2B5EF4-FFF2-40B4-BE49-F238E27FC236}">
                <a16:creationId xmlns:a16="http://schemas.microsoft.com/office/drawing/2014/main" id="{FD6790A6-F819-5FBA-AF65-D2C84641D031}"/>
              </a:ext>
            </a:extLst>
          </p:cNvPr>
          <p:cNvSpPr txBox="1"/>
          <p:nvPr/>
        </p:nvSpPr>
        <p:spPr>
          <a:xfrm>
            <a:off x="2041899" y="2927372"/>
            <a:ext cx="3507287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1999 Aibo Robot:</a:t>
            </a:r>
          </a:p>
          <a:p>
            <a:r>
              <a:rPr lang="en-US" b="1"/>
              <a:t>First robotic pet dog.</a:t>
            </a:r>
          </a:p>
        </p:txBody>
      </p:sp>
      <p:sp useBgFill="1">
        <p:nvSpPr>
          <p:cNvPr id="14" name="TextBox 13">
            <a:extLst>
              <a:ext uri="{FF2B5EF4-FFF2-40B4-BE49-F238E27FC236}">
                <a16:creationId xmlns:a16="http://schemas.microsoft.com/office/drawing/2014/main" id="{A2AAF85A-DCC2-EC54-E8FB-52AB658AF074}"/>
              </a:ext>
            </a:extLst>
          </p:cNvPr>
          <p:cNvSpPr txBox="1"/>
          <p:nvPr/>
        </p:nvSpPr>
        <p:spPr>
          <a:xfrm>
            <a:off x="2041898" y="4226823"/>
            <a:ext cx="3392466" cy="121076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2000 Asimo:</a:t>
            </a:r>
          </a:p>
          <a:p>
            <a:r>
              <a:rPr lang="en-US" b="1"/>
              <a:t>Robot Asimo from Honda presented the first humanoid robot.</a:t>
            </a:r>
          </a:p>
        </p:txBody>
      </p:sp>
      <p:pic>
        <p:nvPicPr>
          <p:cNvPr id="16" name="Resim 28" descr="metin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A0303BD6-411B-0588-D559-2A75AF4100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65" t="-1065" r="79508" b="1"/>
          <a:stretch/>
        </p:blipFill>
        <p:spPr>
          <a:xfrm>
            <a:off x="5437029" y="1195263"/>
            <a:ext cx="1664315" cy="1437307"/>
          </a:xfrm>
          <a:prstGeom prst="rect">
            <a:avLst/>
          </a:prstGeom>
        </p:spPr>
      </p:pic>
      <p:sp useBgFill="1">
        <p:nvSpPr>
          <p:cNvPr id="18" name="TextBox 17">
            <a:extLst>
              <a:ext uri="{FF2B5EF4-FFF2-40B4-BE49-F238E27FC236}">
                <a16:creationId xmlns:a16="http://schemas.microsoft.com/office/drawing/2014/main" id="{C9286B77-54F7-7D85-F8B6-E38BE642C67C}"/>
              </a:ext>
            </a:extLst>
          </p:cNvPr>
          <p:cNvSpPr txBox="1"/>
          <p:nvPr/>
        </p:nvSpPr>
        <p:spPr>
          <a:xfrm>
            <a:off x="7145054" y="1300554"/>
            <a:ext cx="4070958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2010 </a:t>
            </a:r>
            <a:r>
              <a:rPr lang="en-US" b="1" err="1"/>
              <a:t>iCub</a:t>
            </a:r>
            <a:r>
              <a:rPr lang="en-US" b="1"/>
              <a:t>:</a:t>
            </a:r>
          </a:p>
          <a:p>
            <a:r>
              <a:rPr lang="en-US" b="1"/>
              <a:t>A 1 meter high humanoid robot for research in human cognition at IIT, </a:t>
            </a:r>
            <a:r>
              <a:rPr lang="tr-TR" b="1"/>
              <a:t>I</a:t>
            </a:r>
            <a:r>
              <a:rPr lang="en-US" b="1" err="1"/>
              <a:t>taly</a:t>
            </a:r>
            <a:r>
              <a:rPr lang="en-US" b="1"/>
              <a:t>.</a:t>
            </a:r>
          </a:p>
        </p:txBody>
      </p:sp>
      <p:pic>
        <p:nvPicPr>
          <p:cNvPr id="20" name="Resim 26" descr="metin, dans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63256872-7CBA-EE35-9343-92F3CDF53A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" t="-1981" r="78961" b="-706"/>
          <a:stretch/>
        </p:blipFill>
        <p:spPr>
          <a:xfrm>
            <a:off x="5526624" y="2709555"/>
            <a:ext cx="1561098" cy="1474544"/>
          </a:xfrm>
          <a:prstGeom prst="rect">
            <a:avLst/>
          </a:prstGeom>
        </p:spPr>
      </p:pic>
      <p:sp useBgFill="1">
        <p:nvSpPr>
          <p:cNvPr id="22" name="TextBox 21">
            <a:extLst>
              <a:ext uri="{FF2B5EF4-FFF2-40B4-BE49-F238E27FC236}">
                <a16:creationId xmlns:a16="http://schemas.microsoft.com/office/drawing/2014/main" id="{0FABCC51-31CE-694C-09CE-2CEC56E57076}"/>
              </a:ext>
            </a:extLst>
          </p:cNvPr>
          <p:cNvSpPr txBox="1"/>
          <p:nvPr/>
        </p:nvSpPr>
        <p:spPr>
          <a:xfrm>
            <a:off x="7173824" y="2709555"/>
            <a:ext cx="4478055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2010 </a:t>
            </a:r>
            <a:r>
              <a:rPr lang="en-US" b="1" err="1"/>
              <a:t>Robotnaut</a:t>
            </a:r>
            <a:r>
              <a:rPr lang="en-US" b="1"/>
              <a:t> 2:</a:t>
            </a:r>
          </a:p>
          <a:p>
            <a:r>
              <a:rPr lang="en-US" b="1"/>
              <a:t>NASA revealed a humanoid robot with a wide range of sensors that can replace human astronauts</a:t>
            </a:r>
          </a:p>
        </p:txBody>
      </p:sp>
      <p:pic>
        <p:nvPicPr>
          <p:cNvPr id="28" name="Resim 30" descr="metin, beyaz, yazı tipi içeren bir resim&#10;&#10;Açıklama otomatik olarak oluşturuldu">
            <a:extLst>
              <a:ext uri="{FF2B5EF4-FFF2-40B4-BE49-F238E27FC236}">
                <a16:creationId xmlns:a16="http://schemas.microsoft.com/office/drawing/2014/main" id="{9E782A19-EE04-FD0F-D0D6-0DEE7C55F9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" t="4028" r="80180" b="716"/>
          <a:stretch/>
        </p:blipFill>
        <p:spPr>
          <a:xfrm>
            <a:off x="5474838" y="4389237"/>
            <a:ext cx="1670216" cy="1493381"/>
          </a:xfrm>
          <a:prstGeom prst="rect">
            <a:avLst/>
          </a:prstGeom>
        </p:spPr>
      </p:pic>
      <p:sp useBgFill="1">
        <p:nvSpPr>
          <p:cNvPr id="30" name="TextBox 29">
            <a:extLst>
              <a:ext uri="{FF2B5EF4-FFF2-40B4-BE49-F238E27FC236}">
                <a16:creationId xmlns:a16="http://schemas.microsoft.com/office/drawing/2014/main" id="{9E789378-1BF2-4F04-8EA7-F8108E0DC054}"/>
              </a:ext>
            </a:extLst>
          </p:cNvPr>
          <p:cNvSpPr txBox="1"/>
          <p:nvPr/>
        </p:nvSpPr>
        <p:spPr>
          <a:xfrm>
            <a:off x="7304303" y="4511975"/>
            <a:ext cx="4217095" cy="92333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2014 Pepper: Japanese company Softbank presented the first robot to be used for customer service.</a:t>
            </a:r>
          </a:p>
        </p:txBody>
      </p:sp>
    </p:spTree>
    <p:extLst>
      <p:ext uri="{BB962C8B-B14F-4D97-AF65-F5344CB8AC3E}">
        <p14:creationId xmlns:p14="http://schemas.microsoft.com/office/powerpoint/2010/main" val="39529748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8" grpId="0" animBg="1"/>
      <p:bldP spid="22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F955D7-5528-E6EE-75A7-2699B87B7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277473"/>
            <a:ext cx="10653578" cy="116194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Working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M</a:t>
            </a:r>
            <a:r>
              <a:rPr lang="en-US" sz="3600" b="0" err="1">
                <a:solidFill>
                  <a:schemeClr val="accent3">
                    <a:lumMod val="75000"/>
                  </a:schemeClr>
                </a:solidFill>
              </a:rPr>
              <a:t>echanisms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3600">
                <a:solidFill>
                  <a:schemeClr val="accent3">
                    <a:lumMod val="75000"/>
                  </a:schemeClr>
                </a:solidFill>
              </a:rPr>
              <a:t>R</a:t>
            </a:r>
            <a:r>
              <a:rPr lang="en" sz="3600" b="0">
                <a:solidFill>
                  <a:schemeClr val="accent3">
                    <a:lumMod val="75000"/>
                  </a:schemeClr>
                </a:solidFill>
              </a:rPr>
              <a:t>elated to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lang="en" sz="3600" b="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 in Humanoid Robots</a:t>
            </a:r>
            <a:endParaRPr lang="tr-TR" sz="3600" b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239FE5B-F757-D1CA-1D58-9DC553C0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284C092-DED7-40DA-EAFD-8CF078DC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2F83C07-FF66-2D9B-0654-D0E4EC468843}"/>
              </a:ext>
            </a:extLst>
          </p:cNvPr>
          <p:cNvCxnSpPr/>
          <p:nvPr/>
        </p:nvCxnSpPr>
        <p:spPr>
          <a:xfrm>
            <a:off x="6224649" y="1375558"/>
            <a:ext cx="3394363" cy="56407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AA7B553-C960-B641-7C92-4349AAC753E3}"/>
              </a:ext>
            </a:extLst>
          </p:cNvPr>
          <p:cNvCxnSpPr>
            <a:cxnSpLocks/>
          </p:cNvCxnSpPr>
          <p:nvPr/>
        </p:nvCxnSpPr>
        <p:spPr>
          <a:xfrm flipH="1">
            <a:off x="2507837" y="1494311"/>
            <a:ext cx="3400136" cy="124938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81C3555-BFCB-8C89-332C-382BC925EE51}"/>
              </a:ext>
            </a:extLst>
          </p:cNvPr>
          <p:cNvCxnSpPr>
            <a:cxnSpLocks/>
          </p:cNvCxnSpPr>
          <p:nvPr/>
        </p:nvCxnSpPr>
        <p:spPr>
          <a:xfrm flipV="1">
            <a:off x="6679870" y="4156362"/>
            <a:ext cx="2196936" cy="138545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792C9B-D635-D7CE-EDDF-8C60636632A1}"/>
              </a:ext>
            </a:extLst>
          </p:cNvPr>
          <p:cNvSpPr txBox="1"/>
          <p:nvPr/>
        </p:nvSpPr>
        <p:spPr>
          <a:xfrm>
            <a:off x="9619013" y="1761506"/>
            <a:ext cx="23354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>
                <a:latin typeface="Consolas"/>
              </a:rPr>
              <a:t>Visual perception</a:t>
            </a:r>
            <a:endParaRPr lang="en-US"/>
          </a:p>
          <a:p>
            <a:r>
              <a:rPr lang="en">
                <a:latin typeface="Consolas"/>
              </a:rPr>
              <a:t>and pathfinding</a:t>
            </a:r>
          </a:p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DC47D9-56A8-D41E-673F-1616989A5FD5}"/>
              </a:ext>
            </a:extLst>
          </p:cNvPr>
          <p:cNvSpPr txBox="1"/>
          <p:nvPr/>
        </p:nvSpPr>
        <p:spPr>
          <a:xfrm>
            <a:off x="248227" y="2577110"/>
            <a:ext cx="24146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Understanding and creating voice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CD8AC4-5224-73D6-AAF4-1740DE0E85F0}"/>
              </a:ext>
            </a:extLst>
          </p:cNvPr>
          <p:cNvSpPr txBox="1"/>
          <p:nvPr/>
        </p:nvSpPr>
        <p:spPr>
          <a:xfrm>
            <a:off x="8876805" y="3968337"/>
            <a:ext cx="28005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>
                <a:latin typeface="Consolas"/>
              </a:rPr>
              <a:t>Effective movement 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98CE9D4-33B3-16AB-79B4-11710E9403C1}"/>
              </a:ext>
            </a:extLst>
          </p:cNvPr>
          <p:cNvCxnSpPr>
            <a:cxnSpLocks/>
          </p:cNvCxnSpPr>
          <p:nvPr/>
        </p:nvCxnSpPr>
        <p:spPr>
          <a:xfrm flipH="1">
            <a:off x="3067791" y="3433947"/>
            <a:ext cx="2454234" cy="138545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E59488A-6EF2-2A46-C77C-9D0362610251}"/>
              </a:ext>
            </a:extLst>
          </p:cNvPr>
          <p:cNvSpPr txBox="1"/>
          <p:nvPr/>
        </p:nvSpPr>
        <p:spPr>
          <a:xfrm>
            <a:off x="851064" y="4611584"/>
            <a:ext cx="23453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>
                <a:latin typeface="Consolas"/>
              </a:rPr>
              <a:t>Touch perception </a:t>
            </a:r>
          </a:p>
        </p:txBody>
      </p:sp>
    </p:spTree>
    <p:extLst>
      <p:ext uri="{BB962C8B-B14F-4D97-AF65-F5344CB8AC3E}">
        <p14:creationId xmlns:p14="http://schemas.microsoft.com/office/powerpoint/2010/main" val="38822355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CD64FD-4604-47DC-B96D-2B9CC3E57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565" y="135719"/>
            <a:ext cx="10502435" cy="1226294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4000" b="0">
                <a:solidFill>
                  <a:schemeClr val="accent3">
                    <a:lumMod val="75000"/>
                  </a:schemeClr>
                </a:solidFill>
              </a:rPr>
              <a:t>Working </a:t>
            </a:r>
            <a:r>
              <a:rPr lang="tr-TR" sz="4000" b="0">
                <a:solidFill>
                  <a:schemeClr val="accent3">
                    <a:lumMod val="75000"/>
                  </a:schemeClr>
                </a:solidFill>
              </a:rPr>
              <a:t>M</a:t>
            </a:r>
            <a:r>
              <a:rPr lang="en-US" sz="4000" b="0" err="1">
                <a:solidFill>
                  <a:schemeClr val="accent3">
                    <a:lumMod val="75000"/>
                  </a:schemeClr>
                </a:solidFill>
              </a:rPr>
              <a:t>echanisms</a:t>
            </a:r>
            <a:r>
              <a:rPr lang="en-US" sz="4000" b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>
                <a:solidFill>
                  <a:schemeClr val="accent3">
                    <a:lumMod val="75000"/>
                  </a:schemeClr>
                </a:solidFill>
              </a:rPr>
              <a:t>R</a:t>
            </a:r>
            <a:r>
              <a:rPr lang="en" sz="4000" b="0">
                <a:solidFill>
                  <a:schemeClr val="accent3">
                    <a:lumMod val="75000"/>
                  </a:schemeClr>
                </a:solidFill>
              </a:rPr>
              <a:t>elated to </a:t>
            </a:r>
            <a:r>
              <a:rPr lang="tr-TR" sz="4000" b="0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lang="en" sz="4000" b="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4000" b="0">
                <a:solidFill>
                  <a:schemeClr val="accent3">
                    <a:lumMod val="75000"/>
                  </a:schemeClr>
                </a:solidFill>
              </a:rPr>
              <a:t> in Humanoid Robot</a:t>
            </a:r>
            <a:endParaRPr lang="en-US" sz="4000" b="0">
              <a:solidFill>
                <a:schemeClr val="accent3">
                  <a:lumMod val="75000"/>
                </a:schemeClr>
              </a:solidFill>
              <a:latin typeface="Consolas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3785B9E-FCC4-7C41-77A8-24002608A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6400" y="1175717"/>
            <a:ext cx="5151841" cy="547971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Understanding and </a:t>
            </a:r>
            <a:r>
              <a:rPr lang="tr-TR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C</a:t>
            </a:r>
            <a:r>
              <a:rPr lang="en-US" err="1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reating</a:t>
            </a:r>
            <a:r>
              <a:rPr lang="en-US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 </a:t>
            </a:r>
            <a:r>
              <a:rPr lang="tr-TR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V</a:t>
            </a:r>
            <a:r>
              <a:rPr lang="en-US" err="1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oice</a:t>
            </a:r>
            <a:endParaRPr lang="tr-TR">
              <a:solidFill>
                <a:schemeClr val="accent2">
                  <a:lumMod val="50000"/>
                </a:schemeClr>
              </a:solidFill>
              <a:latin typeface="Neue Haas Grotesk Text Pro"/>
            </a:endParaRP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61F3DEF-A79A-4CD8-A238-63A34808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798835-8488-9B4A-F9BC-87F36E94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pic>
        <p:nvPicPr>
          <p:cNvPr id="8" name="Resim 7" descr="metin, ekran görüntüsü, çizgi film, diyagram içeren bir resim&#10;&#10;Açıklama otomatik olarak oluşturuldu">
            <a:extLst>
              <a:ext uri="{FF2B5EF4-FFF2-40B4-BE49-F238E27FC236}">
                <a16:creationId xmlns:a16="http://schemas.microsoft.com/office/drawing/2014/main" id="{8A23BC00-72EE-9F8E-0EC4-13BF35030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65" y="2035917"/>
            <a:ext cx="5233158" cy="4582549"/>
          </a:xfrm>
          <a:prstGeom prst="rect">
            <a:avLst/>
          </a:prstGeom>
        </p:spPr>
      </p:pic>
      <p:pic>
        <p:nvPicPr>
          <p:cNvPr id="10" name="Resim 9" descr="metin, yazı tipi, beyaz içeren bir resim&#10;&#10;Açıklama otomatik olarak oluşturuldu">
            <a:extLst>
              <a:ext uri="{FF2B5EF4-FFF2-40B4-BE49-F238E27FC236}">
                <a16:creationId xmlns:a16="http://schemas.microsoft.com/office/drawing/2014/main" id="{0866CB6A-EFFD-83D2-96B4-672409C3F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305" y="2827078"/>
            <a:ext cx="4430350" cy="13224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2749437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CD64FD-4604-47DC-B96D-2B9CC3E57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455511"/>
            <a:ext cx="11088329" cy="64289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Working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M</a:t>
            </a:r>
            <a:r>
              <a:rPr lang="en-US" sz="3600" b="0" err="1">
                <a:solidFill>
                  <a:schemeClr val="accent3">
                    <a:lumMod val="75000"/>
                  </a:schemeClr>
                </a:solidFill>
              </a:rPr>
              <a:t>echanisms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3600">
                <a:solidFill>
                  <a:schemeClr val="accent3">
                    <a:lumMod val="75000"/>
                  </a:schemeClr>
                </a:solidFill>
              </a:rPr>
              <a:t>R</a:t>
            </a:r>
            <a:r>
              <a:rPr lang="en" sz="3600" b="0">
                <a:solidFill>
                  <a:schemeClr val="accent3">
                    <a:lumMod val="75000"/>
                  </a:schemeClr>
                </a:solidFill>
              </a:rPr>
              <a:t>elated to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lang="en" sz="3600" b="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 in Humanoid Robots</a:t>
            </a:r>
            <a:endParaRPr lang="en-US" sz="3600" b="0">
              <a:solidFill>
                <a:schemeClr val="accent3">
                  <a:lumMod val="75000"/>
                </a:schemeClr>
              </a:solidFill>
              <a:latin typeface="Consolas"/>
            </a:endParaRPr>
          </a:p>
          <a:p>
            <a:endParaRPr lang="tr-TR" sz="400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61F3DEF-A79A-4CD8-A238-63A34808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798835-8488-9B4A-F9BC-87F36E94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id="{52A8B2F4-7FF7-C98C-0483-CAE71BCF47AA}"/>
              </a:ext>
            </a:extLst>
          </p:cNvPr>
          <p:cNvSpPr txBox="1">
            <a:spLocks/>
          </p:cNvSpPr>
          <p:nvPr/>
        </p:nvSpPr>
        <p:spPr>
          <a:xfrm>
            <a:off x="952987" y="946662"/>
            <a:ext cx="10653579" cy="5479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9999"/>
              </a:lnSpc>
              <a:buNone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Visual </a:t>
            </a:r>
            <a:r>
              <a:rPr lang="tr-TR" sz="2400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P</a:t>
            </a:r>
            <a:r>
              <a:rPr lang="en-US" sz="2400" err="1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erception</a:t>
            </a:r>
            <a:endParaRPr lang="en-US" sz="240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>
              <a:latin typeface="Neue Haas Grotesk Text Pro"/>
            </a:endParaRPr>
          </a:p>
        </p:txBody>
      </p:sp>
      <p:pic>
        <p:nvPicPr>
          <p:cNvPr id="7" name="Resim 6" descr="makine, metin, motorlu bisiklet, mavi içeren bir resim&#10;&#10;Açıklama otomatik olarak oluşturuldu">
            <a:extLst>
              <a:ext uri="{FF2B5EF4-FFF2-40B4-BE49-F238E27FC236}">
                <a16:creationId xmlns:a16="http://schemas.microsoft.com/office/drawing/2014/main" id="{ACD47DFF-AA77-3DAF-5C66-E338EF46B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07" y="2207384"/>
            <a:ext cx="2351447" cy="3153077"/>
          </a:xfrm>
          <a:prstGeom prst="rect">
            <a:avLst/>
          </a:prstGeom>
        </p:spPr>
      </p:pic>
      <p:pic>
        <p:nvPicPr>
          <p:cNvPr id="16" name="Resim 15" descr="metin, çizgi, ekran görüntüsü, diyagram içeren bir resim&#10;&#10;Açıklama otomatik olarak oluşturuldu">
            <a:extLst>
              <a:ext uri="{FF2B5EF4-FFF2-40B4-BE49-F238E27FC236}">
                <a16:creationId xmlns:a16="http://schemas.microsoft.com/office/drawing/2014/main" id="{F0AD8597-7E4E-76AD-D1D2-CDBA288B3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461" y="1898560"/>
            <a:ext cx="3667637" cy="2249484"/>
          </a:xfrm>
          <a:prstGeom prst="rect">
            <a:avLst/>
          </a:prstGeom>
        </p:spPr>
      </p:pic>
      <p:pic>
        <p:nvPicPr>
          <p:cNvPr id="18" name="Resim 17" descr="taslak, çizim, kırpıntı çizim, siyah beyaz içeren bir resim&#10;&#10;Açıklama otomatik olarak oluşturuldu">
            <a:extLst>
              <a:ext uri="{FF2B5EF4-FFF2-40B4-BE49-F238E27FC236}">
                <a16:creationId xmlns:a16="http://schemas.microsoft.com/office/drawing/2014/main" id="{3BA04461-0BEB-DABA-1C6F-35A807F6DD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062" y="4331617"/>
            <a:ext cx="3667637" cy="2057687"/>
          </a:xfrm>
          <a:prstGeom prst="rect">
            <a:avLst/>
          </a:prstGeom>
        </p:spPr>
      </p:pic>
      <p:pic>
        <p:nvPicPr>
          <p:cNvPr id="22" name="Resim 21" descr="metin, ekran görüntüsü, tasarım içeren bir resim&#10;&#10;Açıklama otomatik olarak oluşturuldu">
            <a:extLst>
              <a:ext uri="{FF2B5EF4-FFF2-40B4-BE49-F238E27FC236}">
                <a16:creationId xmlns:a16="http://schemas.microsoft.com/office/drawing/2014/main" id="{BB296ECE-37C3-0B66-89B1-2B88F420F7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273" y="1773393"/>
            <a:ext cx="3703854" cy="402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3580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CD64FD-4604-47DC-B96D-2B9CC3E57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97" y="131173"/>
            <a:ext cx="11313091" cy="140934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Working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M</a:t>
            </a:r>
            <a:r>
              <a:rPr lang="en-US" sz="3600" b="0" err="1">
                <a:solidFill>
                  <a:schemeClr val="accent3">
                    <a:lumMod val="75000"/>
                  </a:schemeClr>
                </a:solidFill>
              </a:rPr>
              <a:t>echanisms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3600">
                <a:solidFill>
                  <a:schemeClr val="accent3">
                    <a:lumMod val="75000"/>
                  </a:schemeClr>
                </a:solidFill>
              </a:rPr>
              <a:t>R</a:t>
            </a:r>
            <a:r>
              <a:rPr lang="en" sz="3600" b="0">
                <a:solidFill>
                  <a:schemeClr val="accent3">
                    <a:lumMod val="75000"/>
                  </a:schemeClr>
                </a:solidFill>
              </a:rPr>
              <a:t>elated to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lang="tr-TR" sz="360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 in Humanoid Robots</a:t>
            </a:r>
            <a:endParaRPr lang="en-US" sz="3600" b="0">
              <a:solidFill>
                <a:schemeClr val="accent3">
                  <a:lumMod val="75000"/>
                </a:schemeClr>
              </a:solidFill>
              <a:latin typeface="Consolas"/>
            </a:endParaRPr>
          </a:p>
          <a:p>
            <a:endParaRPr lang="tr-TR" sz="400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61F3DEF-A79A-4CD8-A238-63A34808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798835-8488-9B4A-F9BC-87F36E94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id="{701054E5-2E36-4F0E-5460-071BDFF57FC3}"/>
              </a:ext>
            </a:extLst>
          </p:cNvPr>
          <p:cNvSpPr txBox="1">
            <a:spLocks/>
          </p:cNvSpPr>
          <p:nvPr/>
        </p:nvSpPr>
        <p:spPr>
          <a:xfrm>
            <a:off x="574109" y="1032058"/>
            <a:ext cx="10653579" cy="5479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Pathfinding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>
              <a:latin typeface="Neue Haas Grotesk Text Pro"/>
            </a:endParaRPr>
          </a:p>
        </p:txBody>
      </p:sp>
      <p:pic>
        <p:nvPicPr>
          <p:cNvPr id="3" name="Picture 2" descr="A diagram of a network&#10;&#10;Description automatically generated">
            <a:extLst>
              <a:ext uri="{FF2B5EF4-FFF2-40B4-BE49-F238E27FC236}">
                <a16:creationId xmlns:a16="http://schemas.microsoft.com/office/drawing/2014/main" id="{8D1D91E0-6DFB-5684-075C-58CF50813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7" y="1623403"/>
            <a:ext cx="6898368" cy="4610554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FF1C8-1AD1-FA59-A98D-ADFB1D4BB4F2}"/>
              </a:ext>
            </a:extLst>
          </p:cNvPr>
          <p:cNvSpPr txBox="1"/>
          <p:nvPr/>
        </p:nvSpPr>
        <p:spPr>
          <a:xfrm>
            <a:off x="7545689" y="1720840"/>
            <a:ext cx="3977013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>
                <a:ea typeface="+mn-lt"/>
                <a:cs typeface="+mn-lt"/>
              </a:rPr>
              <a:t>INPUTS</a:t>
            </a:r>
          </a:p>
          <a:p>
            <a:endParaRPr lang="en-US" b="1" i="1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i="1">
                <a:ea typeface="+mn-lt"/>
                <a:cs typeface="+mn-lt"/>
              </a:rPr>
              <a:t>Front obstacle distance [FOD]</a:t>
            </a:r>
            <a:endParaRPr lang="en-US" b="1" i="1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i="1">
                <a:ea typeface="+mn-lt"/>
                <a:cs typeface="+mn-lt"/>
              </a:rPr>
              <a:t>Left obstacle distance [LOD]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i="1">
                <a:ea typeface="+mn-lt"/>
                <a:cs typeface="+mn-lt"/>
              </a:rPr>
              <a:t>Right obstacle distance[ROD]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i="1">
                <a:ea typeface="+mn-lt"/>
                <a:cs typeface="+mn-lt"/>
              </a:rPr>
              <a:t>Heading angle [HA] </a:t>
            </a:r>
          </a:p>
          <a:p>
            <a:endParaRPr lang="en-US" b="1" i="1"/>
          </a:p>
          <a:p>
            <a:r>
              <a:rPr lang="en-US" b="1" i="1"/>
              <a:t>OUTPUT</a:t>
            </a:r>
          </a:p>
          <a:p>
            <a:endParaRPr lang="en-US" b="1" i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i="1" err="1">
                <a:ea typeface="+mn-lt"/>
                <a:cs typeface="+mn-lt"/>
              </a:rPr>
              <a:t>Stearing</a:t>
            </a:r>
            <a:r>
              <a:rPr lang="en-US" b="1" i="1">
                <a:ea typeface="+mn-lt"/>
                <a:cs typeface="+mn-lt"/>
              </a:rPr>
              <a:t> angle [SA]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66702088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61F3DEF-A79A-4CD8-A238-63A34808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798835-8488-9B4A-F9BC-87F36E94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id="{62DF2309-01EE-EA00-3B7A-01DB310E142E}"/>
              </a:ext>
            </a:extLst>
          </p:cNvPr>
          <p:cNvSpPr txBox="1">
            <a:spLocks/>
          </p:cNvSpPr>
          <p:nvPr/>
        </p:nvSpPr>
        <p:spPr>
          <a:xfrm>
            <a:off x="585433" y="1035578"/>
            <a:ext cx="10653579" cy="5479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Touch perception</a:t>
            </a:r>
            <a:endParaRPr lang="en-US" sz="240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B1EA50A5-EDF5-470E-4069-C5425A5FD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49" y="1720610"/>
            <a:ext cx="6424809" cy="4740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ABBFC9-1AFD-8F78-C9F7-3CEB9683F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186" y="2929618"/>
            <a:ext cx="4131128" cy="2314121"/>
          </a:xfrm>
          <a:prstGeom prst="rect">
            <a:avLst/>
          </a:prstGeom>
        </p:spPr>
      </p:pic>
      <p:sp>
        <p:nvSpPr>
          <p:cNvPr id="11" name="Başlık 1">
            <a:extLst>
              <a:ext uri="{FF2B5EF4-FFF2-40B4-BE49-F238E27FC236}">
                <a16:creationId xmlns:a16="http://schemas.microsoft.com/office/drawing/2014/main" id="{9B47A6EE-6363-46E0-730E-0248E4C55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433" y="174202"/>
            <a:ext cx="11313091" cy="140934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Working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M</a:t>
            </a:r>
            <a:r>
              <a:rPr lang="en-US" sz="3600" b="0" err="1">
                <a:solidFill>
                  <a:schemeClr val="accent3">
                    <a:lumMod val="75000"/>
                  </a:schemeClr>
                </a:solidFill>
              </a:rPr>
              <a:t>echanisms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3600">
                <a:solidFill>
                  <a:schemeClr val="accent3">
                    <a:lumMod val="75000"/>
                  </a:schemeClr>
                </a:solidFill>
              </a:rPr>
              <a:t>R</a:t>
            </a:r>
            <a:r>
              <a:rPr lang="en" sz="3600" b="0">
                <a:solidFill>
                  <a:schemeClr val="accent3">
                    <a:lumMod val="75000"/>
                  </a:schemeClr>
                </a:solidFill>
              </a:rPr>
              <a:t>elated to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lang="tr-TR" sz="360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 in Humanoid Robots</a:t>
            </a:r>
            <a:endParaRPr lang="en-US" sz="3600" b="0">
              <a:solidFill>
                <a:schemeClr val="accent3">
                  <a:lumMod val="75000"/>
                </a:schemeClr>
              </a:solidFill>
              <a:latin typeface="Consolas"/>
            </a:endParaRPr>
          </a:p>
          <a:p>
            <a:endParaRPr lang="tr-TR" sz="4000"/>
          </a:p>
        </p:txBody>
      </p:sp>
    </p:spTree>
    <p:extLst>
      <p:ext uri="{BB962C8B-B14F-4D97-AF65-F5344CB8AC3E}">
        <p14:creationId xmlns:p14="http://schemas.microsoft.com/office/powerpoint/2010/main" val="350655257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61F3DEF-A79A-4CD8-A238-63A34808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798835-8488-9B4A-F9BC-87F36E94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id="{701054E5-2E36-4F0E-5460-071BDFF57FC3}"/>
              </a:ext>
            </a:extLst>
          </p:cNvPr>
          <p:cNvSpPr txBox="1">
            <a:spLocks/>
          </p:cNvSpPr>
          <p:nvPr/>
        </p:nvSpPr>
        <p:spPr>
          <a:xfrm>
            <a:off x="585433" y="878408"/>
            <a:ext cx="10653579" cy="5479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  <a:latin typeface="Neue Haas Grotesk Text Pro"/>
              </a:rPr>
              <a:t>Effective movement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>
              <a:solidFill>
                <a:schemeClr val="accent2">
                  <a:lumMod val="50000"/>
                </a:schemeClr>
              </a:solidFill>
              <a:latin typeface="Neue Haas Grotesk Text Pro"/>
            </a:endParaRPr>
          </a:p>
        </p:txBody>
      </p:sp>
      <p:pic>
        <p:nvPicPr>
          <p:cNvPr id="3" name="Picture 2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8606B23D-7BC1-60DB-93B0-BFD5E9DC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31" y="2498942"/>
            <a:ext cx="4104067" cy="32066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1E9509-EC44-4E83-F62A-0FD3A4C42696}"/>
              </a:ext>
            </a:extLst>
          </p:cNvPr>
          <p:cNvSpPr txBox="1"/>
          <p:nvPr/>
        </p:nvSpPr>
        <p:spPr>
          <a:xfrm>
            <a:off x="835068" y="2129423"/>
            <a:ext cx="38621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Creating Virtual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F4B32B-6054-DA57-BE61-1EFB16349A5C}"/>
              </a:ext>
            </a:extLst>
          </p:cNvPr>
          <p:cNvSpPr txBox="1"/>
          <p:nvPr/>
        </p:nvSpPr>
        <p:spPr>
          <a:xfrm>
            <a:off x="6617917" y="2306876"/>
            <a:ext cx="44463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 Advantages of  Using Virtual Environment for training Humanoid Robots Movements</a:t>
            </a:r>
            <a:r>
              <a:rPr lang="tr-TR"/>
              <a:t>: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5AAA1-8F18-DDC9-283F-F732E083E2AB}"/>
              </a:ext>
            </a:extLst>
          </p:cNvPr>
          <p:cNvSpPr txBox="1"/>
          <p:nvPr/>
        </p:nvSpPr>
        <p:spPr>
          <a:xfrm>
            <a:off x="6513534" y="2974931"/>
            <a:ext cx="511479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potential clients save ample time normally invested in training robots. 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">
                <a:latin typeface="Aptos"/>
              </a:rPr>
              <a:t>Reduces the space required for robot movements.</a:t>
            </a:r>
          </a:p>
          <a:p>
            <a:pPr marL="285750" indent="-285750">
              <a:buFont typeface="Arial"/>
              <a:buChar char="•"/>
            </a:pPr>
            <a:endParaRPr lang="en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">
                <a:latin typeface="Aptos"/>
              </a:rPr>
              <a:t>Reduces potential robot malfunctions.</a:t>
            </a:r>
          </a:p>
          <a:p>
            <a:pPr marL="285750" indent="-285750">
              <a:buFont typeface="Arial"/>
              <a:buChar char="•"/>
            </a:pPr>
            <a:endParaRPr lang="en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">
                <a:latin typeface="Aptos"/>
              </a:rPr>
              <a:t>Reduces the budget that needs to be spent on training robots.</a:t>
            </a:r>
          </a:p>
        </p:txBody>
      </p:sp>
      <p:sp>
        <p:nvSpPr>
          <p:cNvPr id="12" name="Başlık 1">
            <a:extLst>
              <a:ext uri="{FF2B5EF4-FFF2-40B4-BE49-F238E27FC236}">
                <a16:creationId xmlns:a16="http://schemas.microsoft.com/office/drawing/2014/main" id="{882AD819-D93F-6E28-52CC-51BB667F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433" y="161290"/>
            <a:ext cx="11313091" cy="140934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Working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M</a:t>
            </a:r>
            <a:r>
              <a:rPr lang="en-US" sz="3600" b="0" err="1">
                <a:solidFill>
                  <a:schemeClr val="accent3">
                    <a:lumMod val="75000"/>
                  </a:schemeClr>
                </a:solidFill>
              </a:rPr>
              <a:t>echanisms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3600">
                <a:solidFill>
                  <a:schemeClr val="accent3">
                    <a:lumMod val="75000"/>
                  </a:schemeClr>
                </a:solidFill>
              </a:rPr>
              <a:t>R</a:t>
            </a:r>
            <a:r>
              <a:rPr lang="en" sz="3600" b="0">
                <a:solidFill>
                  <a:schemeClr val="accent3">
                    <a:lumMod val="75000"/>
                  </a:schemeClr>
                </a:solidFill>
              </a:rPr>
              <a:t>elated to </a:t>
            </a:r>
            <a:r>
              <a:rPr lang="tr-TR" sz="3600" b="0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lang="tr-TR" sz="3600">
                <a:solidFill>
                  <a:schemeClr val="accent3">
                    <a:lumMod val="75000"/>
                  </a:schemeClr>
                </a:solidFill>
              </a:rPr>
              <a:t>I</a:t>
            </a:r>
            <a:r>
              <a:rPr lang="en-US" sz="3600" b="0">
                <a:solidFill>
                  <a:schemeClr val="accent3">
                    <a:lumMod val="75000"/>
                  </a:schemeClr>
                </a:solidFill>
              </a:rPr>
              <a:t> in Humanoid Robots</a:t>
            </a:r>
            <a:endParaRPr lang="en-US" sz="3600" b="0">
              <a:solidFill>
                <a:schemeClr val="accent3">
                  <a:lumMod val="75000"/>
                </a:schemeClr>
              </a:solidFill>
              <a:latin typeface="Consolas"/>
            </a:endParaRPr>
          </a:p>
          <a:p>
            <a:endParaRPr lang="tr-TR" sz="4000"/>
          </a:p>
        </p:txBody>
      </p:sp>
    </p:spTree>
    <p:extLst>
      <p:ext uri="{BB962C8B-B14F-4D97-AF65-F5344CB8AC3E}">
        <p14:creationId xmlns:p14="http://schemas.microsoft.com/office/powerpoint/2010/main" val="350774627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D089-0831-58B1-F3BD-C4DF9BBE9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Economic 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lang="en-US" err="1">
                <a:solidFill>
                  <a:schemeClr val="accent3">
                    <a:lumMod val="75000"/>
                  </a:schemeClr>
                </a:solidFill>
              </a:rPr>
              <a:t>spects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 of Humanoid Robots</a:t>
            </a:r>
          </a:p>
        </p:txBody>
      </p:sp>
      <p:pic>
        <p:nvPicPr>
          <p:cNvPr id="8" name="İçerik Yer Tutucusu 7" descr="metin, ekran görüntüsü, logo, daire içeren bir resim&#10;&#10;Açıklama otomatik olarak oluşturuldu">
            <a:extLst>
              <a:ext uri="{FF2B5EF4-FFF2-40B4-BE49-F238E27FC236}">
                <a16:creationId xmlns:a16="http://schemas.microsoft.com/office/drawing/2014/main" id="{DDEA235E-C46D-E75F-1C86-183553FCC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268" y="2042965"/>
            <a:ext cx="4172532" cy="4077269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88316-8E9E-9B16-8B81-03A5E73F5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898B8-485C-B23A-7444-621B6476C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/>
          </a:p>
        </p:txBody>
      </p:sp>
      <p:pic>
        <p:nvPicPr>
          <p:cNvPr id="10" name="Resim 9" descr="metin, ekran görüntüsü, yazılım, web sayfası içeren bir resim&#10;&#10;Açıklama otomatik olarak oluşturuldu">
            <a:extLst>
              <a:ext uri="{FF2B5EF4-FFF2-40B4-BE49-F238E27FC236}">
                <a16:creationId xmlns:a16="http://schemas.microsoft.com/office/drawing/2014/main" id="{62129907-01A2-F352-3858-E1CD40E34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1666676"/>
            <a:ext cx="550621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0431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A4CF-A0DF-A893-68F0-3FDE7C852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Ethic 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lang="en-US" err="1">
                <a:solidFill>
                  <a:schemeClr val="accent3">
                    <a:lumMod val="75000"/>
                  </a:schemeClr>
                </a:solidFill>
              </a:rPr>
              <a:t>spect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s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 of 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H</a:t>
            </a:r>
            <a:r>
              <a:rPr lang="en-US" err="1">
                <a:solidFill>
                  <a:schemeClr val="accent3">
                    <a:lumMod val="75000"/>
                  </a:schemeClr>
                </a:solidFill>
              </a:rPr>
              <a:t>umanoid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>
                <a:solidFill>
                  <a:schemeClr val="accent3">
                    <a:lumMod val="75000"/>
                  </a:schemeClr>
                </a:solidFill>
              </a:rPr>
              <a:t>R</a:t>
            </a:r>
            <a:r>
              <a:rPr lang="en-US" err="1">
                <a:solidFill>
                  <a:schemeClr val="accent3">
                    <a:lumMod val="75000"/>
                  </a:schemeClr>
                </a:solidFill>
              </a:rPr>
              <a:t>obots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AE9717E7-E49B-6ECE-9FAE-1A00776F3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32399" y="2677136"/>
            <a:ext cx="4933632" cy="269276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D570D-E8FB-A8C0-9EA7-F2B56580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732E6-8EA5-65E7-76D5-7F3CBFC8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12</a:t>
            </a:fld>
            <a:endParaRPr lang="en-US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E33FF98C-31CD-5BF1-8C5A-7533771B0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4933632" cy="49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1065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091D-FB11-CF98-D5D6-03DC5517F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62" y="136525"/>
            <a:ext cx="10515600" cy="1325563"/>
          </a:xfrm>
          <a:effectLst>
            <a:outerShdw blurRad="50800" algn="ctr" rotWithShape="0">
              <a:schemeClr val="tx1"/>
            </a:outerShdw>
          </a:effectLst>
        </p:spPr>
        <p:txBody>
          <a:bodyPr/>
          <a:lstStyle/>
          <a:p>
            <a:pPr algn="ctr"/>
            <a:r>
              <a:rPr lang="en-US" b="1">
                <a:solidFill>
                  <a:schemeClr val="accent4">
                    <a:lumMod val="20000"/>
                    <a:lumOff val="80000"/>
                  </a:schemeClr>
                </a:solidFill>
              </a:rPr>
              <a:t>Future of </a:t>
            </a:r>
            <a:r>
              <a:rPr lang="tr-TR" b="1">
                <a:solidFill>
                  <a:schemeClr val="accent4">
                    <a:lumMod val="20000"/>
                    <a:lumOff val="80000"/>
                  </a:schemeClr>
                </a:solidFill>
              </a:rPr>
              <a:t>H</a:t>
            </a:r>
            <a:r>
              <a:rPr lang="en-US" b="1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umanoid</a:t>
            </a:r>
            <a:r>
              <a:rPr lang="en-US" b="1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tr-TR" b="1">
                <a:solidFill>
                  <a:schemeClr val="accent4">
                    <a:lumMod val="20000"/>
                    <a:lumOff val="80000"/>
                  </a:schemeClr>
                </a:solidFill>
              </a:rPr>
              <a:t>R</a:t>
            </a:r>
            <a:r>
              <a:rPr lang="en-US" b="1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obots</a:t>
            </a:r>
            <a:endParaRPr lang="en-US" b="1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509B4-1CA2-A96E-9C2D-5D502CF17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D0E48-A368-BEB0-491A-479CDBBF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4826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A605-19E9-5EDC-BAC4-F59C359C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D50EE-A435-9EB1-B107-045C9C5FB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 sz="1200"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Joe Denny, Mohamed </a:t>
            </a:r>
            <a:r>
              <a:rPr lang="en-US" sz="1200" err="1">
                <a:ea typeface="+mn-lt"/>
                <a:cs typeface="+mn-lt"/>
              </a:rPr>
              <a:t>Elyas</a:t>
            </a:r>
            <a:r>
              <a:rPr lang="en-US" sz="1200">
                <a:ea typeface="+mn-lt"/>
                <a:cs typeface="+mn-lt"/>
              </a:rPr>
              <a:t>, Shannon Angel </a:t>
            </a:r>
            <a:r>
              <a:rPr lang="en-US" sz="1200" err="1">
                <a:ea typeface="+mn-lt"/>
                <a:cs typeface="+mn-lt"/>
              </a:rPr>
              <a:t>D’costa</a:t>
            </a:r>
            <a:r>
              <a:rPr lang="en-US" sz="120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Royson</a:t>
            </a:r>
            <a:r>
              <a:rPr lang="en-US" sz="1200">
                <a:ea typeface="+mn-lt"/>
                <a:cs typeface="+mn-lt"/>
              </a:rPr>
              <a:t> Donate D’Souza. Humanoid Robots – Past, Present and the Future, European Journal of Advances in Engineering and Technology, 2016, 3(5): 8-15</a:t>
            </a:r>
            <a:endParaRPr lang="tr-TR" sz="1200">
              <a:ea typeface="+mn-lt"/>
              <a:cs typeface="+mn-lt"/>
            </a:endParaRPr>
          </a:p>
          <a:p>
            <a:r>
              <a:rPr lang="tr-TR" sz="1200" err="1"/>
              <a:t>Kazuhiko</a:t>
            </a:r>
            <a:r>
              <a:rPr lang="tr-TR" sz="1200"/>
              <a:t> YOKOYAMA, </a:t>
            </a:r>
            <a:r>
              <a:rPr lang="tr-TR" sz="1200" err="1"/>
              <a:t>Hiroyuki</a:t>
            </a:r>
            <a:r>
              <a:rPr lang="tr-TR" sz="1200"/>
              <a:t> HANDA, </a:t>
            </a:r>
            <a:r>
              <a:rPr lang="tr-TR" sz="1200" err="1"/>
              <a:t>Takakatsu</a:t>
            </a:r>
            <a:r>
              <a:rPr lang="tr-TR" sz="1200"/>
              <a:t> ISOZUMI, </a:t>
            </a:r>
            <a:r>
              <a:rPr lang="tr-TR" sz="1200" err="1"/>
              <a:t>Yutaro</a:t>
            </a:r>
            <a:r>
              <a:rPr lang="tr-TR" sz="1200"/>
              <a:t> FUKASE, </a:t>
            </a:r>
            <a:r>
              <a:rPr lang="tr-TR" sz="1200" err="1"/>
              <a:t>Kenji</a:t>
            </a:r>
            <a:r>
              <a:rPr lang="tr-TR" sz="1200"/>
              <a:t> KANEKO, </a:t>
            </a:r>
            <a:r>
              <a:rPr lang="tr-TR" sz="1200" err="1"/>
              <a:t>Fumio</a:t>
            </a:r>
            <a:r>
              <a:rPr lang="tr-TR" sz="1200"/>
              <a:t> KANEHIRO, </a:t>
            </a:r>
            <a:r>
              <a:rPr lang="tr-TR" sz="1200" err="1"/>
              <a:t>Yoshihiro</a:t>
            </a:r>
            <a:r>
              <a:rPr lang="tr-TR" sz="1200"/>
              <a:t> KAWAI, </a:t>
            </a:r>
            <a:r>
              <a:rPr lang="tr-TR" sz="1200" err="1"/>
              <a:t>Fumiaki</a:t>
            </a:r>
            <a:r>
              <a:rPr lang="tr-TR" sz="1200"/>
              <a:t> TOMITA , </a:t>
            </a:r>
            <a:r>
              <a:rPr lang="tr-TR" sz="1200" err="1"/>
              <a:t>Hirohisa</a:t>
            </a:r>
            <a:r>
              <a:rPr lang="tr-TR" sz="1200"/>
              <a:t> HIRUKAWA,</a:t>
            </a:r>
            <a:r>
              <a:rPr lang="en-US" sz="1200"/>
              <a:t> Cooperative Works by a Human and a Humanoid Robot</a:t>
            </a:r>
            <a:r>
              <a:rPr lang="tr-TR" sz="1200"/>
              <a:t>, International Conference on </a:t>
            </a:r>
            <a:r>
              <a:rPr lang="tr-TR" sz="1200" err="1"/>
              <a:t>Robotics</a:t>
            </a:r>
            <a:r>
              <a:rPr lang="tr-TR" sz="1200"/>
              <a:t> &amp; </a:t>
            </a:r>
            <a:r>
              <a:rPr lang="tr-TR" sz="1200" err="1"/>
              <a:t>Automation</a:t>
            </a:r>
            <a:r>
              <a:rPr lang="tr-TR" sz="1200"/>
              <a:t> Taipei, </a:t>
            </a:r>
            <a:r>
              <a:rPr lang="tr-TR" sz="1200" err="1"/>
              <a:t>Taiwan</a:t>
            </a:r>
            <a:r>
              <a:rPr lang="tr-TR" sz="1200"/>
              <a:t>, </a:t>
            </a:r>
            <a:r>
              <a:rPr lang="tr-TR" sz="1200" err="1"/>
              <a:t>September</a:t>
            </a:r>
            <a:r>
              <a:rPr lang="tr-TR" sz="1200"/>
              <a:t> 14-19, 2003</a:t>
            </a:r>
            <a:endParaRPr lang="en-US" sz="1200"/>
          </a:p>
          <a:p>
            <a:r>
              <a:rPr lang="tr-TR" sz="1200" err="1">
                <a:ea typeface="+mn-lt"/>
                <a:cs typeface="+mn-lt"/>
              </a:rPr>
              <a:t>Obaid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Fareed</a:t>
            </a:r>
            <a:r>
              <a:rPr lang="tr-TR" sz="1200">
                <a:ea typeface="+mn-lt"/>
                <a:cs typeface="+mn-lt"/>
              </a:rPr>
              <a:t>, M. </a:t>
            </a:r>
            <a:r>
              <a:rPr lang="tr-TR" sz="1200" err="1">
                <a:ea typeface="+mn-lt"/>
                <a:cs typeface="+mn-lt"/>
              </a:rPr>
              <a:t>Irfan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Anis</a:t>
            </a:r>
            <a:r>
              <a:rPr lang="tr-TR" sz="1200">
                <a:ea typeface="+mn-lt"/>
                <a:cs typeface="+mn-lt"/>
              </a:rPr>
              <a:t>. </a:t>
            </a:r>
            <a:r>
              <a:rPr lang="tr-TR" sz="1200"/>
              <a:t>A </a:t>
            </a:r>
            <a:r>
              <a:rPr lang="tr-TR" sz="1200" err="1"/>
              <a:t>hyper-realistic</a:t>
            </a:r>
            <a:r>
              <a:rPr lang="tr-TR" sz="1200"/>
              <a:t> </a:t>
            </a:r>
            <a:r>
              <a:rPr lang="tr-TR" sz="1200" err="1"/>
              <a:t>virtual</a:t>
            </a:r>
            <a:r>
              <a:rPr lang="tr-TR" sz="1200"/>
              <a:t> </a:t>
            </a:r>
            <a:r>
              <a:rPr lang="tr-TR" sz="1200" err="1"/>
              <a:t>environment</a:t>
            </a:r>
            <a:r>
              <a:rPr lang="tr-TR" sz="1200"/>
              <a:t> </a:t>
            </a:r>
            <a:r>
              <a:rPr lang="tr-TR" sz="1200" err="1"/>
              <a:t>for</a:t>
            </a:r>
            <a:r>
              <a:rPr lang="tr-TR" sz="1200"/>
              <a:t> </a:t>
            </a:r>
            <a:r>
              <a:rPr lang="tr-TR" sz="1200" err="1"/>
              <a:t>robots</a:t>
            </a:r>
            <a:r>
              <a:rPr lang="tr-TR" sz="1200"/>
              <a:t> </a:t>
            </a:r>
            <a:r>
              <a:rPr lang="tr-TR" sz="1200" err="1"/>
              <a:t>training</a:t>
            </a:r>
            <a:r>
              <a:rPr lang="tr-TR" sz="1200"/>
              <a:t>, </a:t>
            </a:r>
            <a:r>
              <a:rPr lang="tr-TR" sz="1200" err="1">
                <a:ea typeface="+mn-lt"/>
                <a:cs typeface="+mn-lt"/>
              </a:rPr>
              <a:t>Springer-Verlag</a:t>
            </a:r>
            <a:r>
              <a:rPr lang="tr-TR" sz="1200">
                <a:ea typeface="+mn-lt"/>
                <a:cs typeface="+mn-lt"/>
              </a:rPr>
              <a:t> GmbH Germany, </a:t>
            </a:r>
            <a:r>
              <a:rPr lang="tr-TR" sz="1200" err="1">
                <a:ea typeface="+mn-lt"/>
                <a:cs typeface="+mn-lt"/>
              </a:rPr>
              <a:t>part</a:t>
            </a:r>
            <a:r>
              <a:rPr lang="tr-TR" sz="1200">
                <a:ea typeface="+mn-lt"/>
                <a:cs typeface="+mn-lt"/>
              </a:rPr>
              <a:t> of </a:t>
            </a:r>
            <a:r>
              <a:rPr lang="tr-TR" sz="1200" err="1">
                <a:ea typeface="+mn-lt"/>
                <a:cs typeface="+mn-lt"/>
              </a:rPr>
              <a:t>Springer</a:t>
            </a:r>
            <a:r>
              <a:rPr lang="tr-TR" sz="1200">
                <a:ea typeface="+mn-lt"/>
                <a:cs typeface="+mn-lt"/>
              </a:rPr>
              <a:t> Nature 2024</a:t>
            </a:r>
          </a:p>
          <a:p>
            <a:r>
              <a:rPr lang="tr-TR" sz="1200" err="1"/>
              <a:t>Javier</a:t>
            </a:r>
            <a:r>
              <a:rPr lang="tr-TR" sz="1200"/>
              <a:t> </a:t>
            </a:r>
            <a:r>
              <a:rPr lang="tr-TR" sz="1200" err="1"/>
              <a:t>Andreu</a:t>
            </a:r>
            <a:r>
              <a:rPr lang="tr-TR" sz="1200"/>
              <a:t> Perez, Fani </a:t>
            </a:r>
            <a:r>
              <a:rPr lang="tr-TR" sz="1200" err="1"/>
              <a:t>Deligianni</a:t>
            </a:r>
            <a:r>
              <a:rPr lang="tr-TR" sz="1200"/>
              <a:t>, </a:t>
            </a:r>
            <a:r>
              <a:rPr lang="tr-TR" sz="1200" err="1"/>
              <a:t>Daniele</a:t>
            </a:r>
            <a:r>
              <a:rPr lang="tr-TR" sz="1200"/>
              <a:t> Ravi </a:t>
            </a:r>
            <a:r>
              <a:rPr lang="tr-TR" sz="1200" err="1"/>
              <a:t>and</a:t>
            </a:r>
            <a:r>
              <a:rPr lang="tr-TR" sz="1200"/>
              <a:t> </a:t>
            </a:r>
            <a:r>
              <a:rPr lang="tr-TR" sz="1200" err="1"/>
              <a:t>Guang-Zhong</a:t>
            </a:r>
            <a:r>
              <a:rPr lang="tr-TR" sz="1200"/>
              <a:t> Yang </a:t>
            </a:r>
            <a:r>
              <a:rPr lang="tr-TR" sz="1200">
                <a:ea typeface="+mn-lt"/>
                <a:cs typeface="+mn-lt"/>
              </a:rPr>
              <a:t>,</a:t>
            </a:r>
            <a:r>
              <a:rPr lang="tr-TR" sz="1200"/>
              <a:t> </a:t>
            </a:r>
            <a:r>
              <a:rPr lang="tr-TR" sz="1200" err="1"/>
              <a:t>Artificial</a:t>
            </a:r>
            <a:r>
              <a:rPr lang="tr-TR" sz="1200"/>
              <a:t> </a:t>
            </a:r>
            <a:r>
              <a:rPr lang="tr-TR" sz="1200" err="1"/>
              <a:t>Intelligence</a:t>
            </a:r>
            <a:r>
              <a:rPr lang="tr-TR" sz="1200"/>
              <a:t> </a:t>
            </a:r>
            <a:r>
              <a:rPr lang="tr-TR" sz="1200" err="1"/>
              <a:t>and</a:t>
            </a:r>
            <a:r>
              <a:rPr lang="tr-TR" sz="1200"/>
              <a:t> </a:t>
            </a:r>
            <a:r>
              <a:rPr lang="tr-TR" sz="1200" err="1"/>
              <a:t>Robotics</a:t>
            </a:r>
            <a:r>
              <a:rPr lang="tr-TR" sz="1200"/>
              <a:t> 2024</a:t>
            </a:r>
            <a:endParaRPr lang="tr-TR" sz="1200">
              <a:ea typeface="+mn-lt"/>
              <a:cs typeface="+mn-lt"/>
            </a:endParaRPr>
          </a:p>
          <a:p>
            <a:r>
              <a:rPr lang="tr-TR" sz="1200" err="1">
                <a:ea typeface="+mn-lt"/>
                <a:cs typeface="+mn-lt"/>
              </a:rPr>
              <a:t>Mária</a:t>
            </a:r>
            <a:r>
              <a:rPr lang="tr-TR" sz="1200">
                <a:ea typeface="+mn-lt"/>
                <a:cs typeface="+mn-lt"/>
              </a:rPr>
              <a:t> VIRČÍKOVÁ, Peter SINČÁK. </a:t>
            </a:r>
            <a:r>
              <a:rPr lang="tr-TR" sz="1200" err="1">
                <a:ea typeface="+mn-lt"/>
                <a:cs typeface="+mn-lt"/>
              </a:rPr>
              <a:t>Artificial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Intelligence</a:t>
            </a:r>
            <a:r>
              <a:rPr lang="tr-TR" sz="1200">
                <a:ea typeface="+mn-lt"/>
                <a:cs typeface="+mn-lt"/>
              </a:rPr>
              <a:t> in </a:t>
            </a:r>
            <a:r>
              <a:rPr lang="tr-TR" sz="1200" err="1">
                <a:ea typeface="+mn-lt"/>
                <a:cs typeface="+mn-lt"/>
              </a:rPr>
              <a:t>Humanoid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Systems</a:t>
            </a:r>
            <a:r>
              <a:rPr lang="tr-TR" sz="1200">
                <a:ea typeface="+mn-lt"/>
                <a:cs typeface="+mn-lt"/>
              </a:rPr>
              <a:t>, </a:t>
            </a:r>
            <a:r>
              <a:rPr lang="tr-TR" sz="1200" err="1">
                <a:ea typeface="+mn-lt"/>
                <a:cs typeface="+mn-lt"/>
              </a:rPr>
              <a:t>Dept</a:t>
            </a:r>
            <a:r>
              <a:rPr lang="tr-TR" sz="1200">
                <a:ea typeface="+mn-lt"/>
                <a:cs typeface="+mn-lt"/>
              </a:rPr>
              <a:t>. of </a:t>
            </a:r>
            <a:r>
              <a:rPr lang="tr-TR" sz="1200" err="1">
                <a:ea typeface="+mn-lt"/>
                <a:cs typeface="+mn-lt"/>
              </a:rPr>
              <a:t>Cybernetics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and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Artificial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Intelligence</a:t>
            </a:r>
            <a:r>
              <a:rPr lang="tr-TR" sz="1200">
                <a:ea typeface="+mn-lt"/>
                <a:cs typeface="+mn-lt"/>
              </a:rPr>
              <a:t>, FEI TU of </a:t>
            </a:r>
            <a:r>
              <a:rPr lang="tr-TR" sz="1200" err="1">
                <a:ea typeface="+mn-lt"/>
                <a:cs typeface="+mn-lt"/>
              </a:rPr>
              <a:t>Kosice</a:t>
            </a:r>
            <a:r>
              <a:rPr lang="tr-TR" sz="1200">
                <a:ea typeface="+mn-lt"/>
                <a:cs typeface="+mn-lt"/>
              </a:rPr>
              <a:t>, Slovak </a:t>
            </a:r>
            <a:r>
              <a:rPr lang="tr-TR" sz="1200" err="1">
                <a:ea typeface="+mn-lt"/>
                <a:cs typeface="+mn-lt"/>
              </a:rPr>
              <a:t>Republic</a:t>
            </a:r>
            <a:r>
              <a:rPr lang="tr-TR" sz="1200">
                <a:ea typeface="+mn-lt"/>
                <a:cs typeface="+mn-lt"/>
              </a:rPr>
              <a:t>, 2010 </a:t>
            </a:r>
            <a:endParaRPr lang="tr-TR" sz="1200"/>
          </a:p>
          <a:p>
            <a:r>
              <a:rPr lang="tr-TR" sz="1200" err="1">
                <a:ea typeface="+mn-lt"/>
                <a:cs typeface="+mn-lt"/>
              </a:rPr>
              <a:t>Biswajit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Sahoo</a:t>
            </a:r>
            <a:r>
              <a:rPr lang="tr-TR" sz="1200">
                <a:ea typeface="+mn-lt"/>
                <a:cs typeface="+mn-lt"/>
              </a:rPr>
              <a:t> , </a:t>
            </a:r>
            <a:r>
              <a:rPr lang="tr-TR" sz="1200" err="1">
                <a:ea typeface="+mn-lt"/>
                <a:cs typeface="+mn-lt"/>
              </a:rPr>
              <a:t>Dayal</a:t>
            </a:r>
            <a:r>
              <a:rPr lang="tr-TR" sz="1200">
                <a:ea typeface="+mn-lt"/>
                <a:cs typeface="+mn-lt"/>
              </a:rPr>
              <a:t> R. </a:t>
            </a:r>
            <a:r>
              <a:rPr lang="tr-TR" sz="1200" err="1">
                <a:ea typeface="+mn-lt"/>
                <a:cs typeface="+mn-lt"/>
              </a:rPr>
              <a:t>Parhi</a:t>
            </a:r>
            <a:r>
              <a:rPr lang="tr-TR" sz="1200">
                <a:ea typeface="+mn-lt"/>
                <a:cs typeface="+mn-lt"/>
              </a:rPr>
              <a:t> , </a:t>
            </a:r>
            <a:r>
              <a:rPr lang="tr-TR" sz="1200" err="1">
                <a:ea typeface="+mn-lt"/>
                <a:cs typeface="+mn-lt"/>
              </a:rPr>
              <a:t>Priyadarshi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Biplab</a:t>
            </a:r>
            <a:r>
              <a:rPr lang="tr-TR" sz="1200">
                <a:ea typeface="+mn-lt"/>
                <a:cs typeface="+mn-lt"/>
              </a:rPr>
              <a:t> Kumar. Analysis of </a:t>
            </a:r>
            <a:r>
              <a:rPr lang="tr-TR" sz="1200" err="1">
                <a:ea typeface="+mn-lt"/>
                <a:cs typeface="+mn-lt"/>
              </a:rPr>
              <a:t>Path</a:t>
            </a:r>
            <a:r>
              <a:rPr lang="tr-TR" sz="1200">
                <a:ea typeface="+mn-lt"/>
                <a:cs typeface="+mn-lt"/>
              </a:rPr>
              <a:t> Planning of </a:t>
            </a:r>
            <a:r>
              <a:rPr lang="tr-TR" sz="1200" err="1">
                <a:ea typeface="+mn-lt"/>
                <a:cs typeface="+mn-lt"/>
              </a:rPr>
              <a:t>Humanoid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Robots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using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Neural</a:t>
            </a:r>
            <a:r>
              <a:rPr lang="tr-TR" sz="1200">
                <a:ea typeface="+mn-lt"/>
                <a:cs typeface="+mn-lt"/>
              </a:rPr>
              <a:t> Network </a:t>
            </a:r>
            <a:r>
              <a:rPr lang="tr-TR" sz="1200" err="1">
                <a:ea typeface="+mn-lt"/>
                <a:cs typeface="+mn-lt"/>
              </a:rPr>
              <a:t>Methods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and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Study</a:t>
            </a:r>
            <a:r>
              <a:rPr lang="tr-TR" sz="1200">
                <a:ea typeface="+mn-lt"/>
                <a:cs typeface="+mn-lt"/>
              </a:rPr>
              <a:t> of </a:t>
            </a:r>
            <a:r>
              <a:rPr lang="tr-TR" sz="1200" err="1">
                <a:ea typeface="+mn-lt"/>
                <a:cs typeface="+mn-lt"/>
              </a:rPr>
              <a:t>Possible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use</a:t>
            </a:r>
            <a:r>
              <a:rPr lang="tr-TR" sz="1200">
                <a:ea typeface="+mn-lt"/>
                <a:cs typeface="+mn-lt"/>
              </a:rPr>
              <a:t> of </a:t>
            </a:r>
            <a:r>
              <a:rPr lang="tr-TR" sz="1200" err="1">
                <a:ea typeface="+mn-lt"/>
                <a:cs typeface="+mn-lt"/>
              </a:rPr>
              <a:t>Other</a:t>
            </a:r>
            <a:r>
              <a:rPr lang="tr-TR" sz="1200">
                <a:ea typeface="+mn-lt"/>
                <a:cs typeface="+mn-lt"/>
              </a:rPr>
              <a:t> AI </a:t>
            </a:r>
            <a:r>
              <a:rPr lang="tr-TR" sz="1200" err="1">
                <a:ea typeface="+mn-lt"/>
                <a:cs typeface="+mn-lt"/>
              </a:rPr>
              <a:t>Techniques</a:t>
            </a:r>
            <a:r>
              <a:rPr lang="tr-TR" sz="1200">
                <a:ea typeface="+mn-lt"/>
                <a:cs typeface="+mn-lt"/>
              </a:rPr>
              <a:t>, </a:t>
            </a:r>
            <a:r>
              <a:rPr lang="tr-TR" sz="1200" err="1">
                <a:ea typeface="+mn-lt"/>
                <a:cs typeface="+mn-lt"/>
              </a:rPr>
              <a:t>Emerging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Trends</a:t>
            </a:r>
            <a:r>
              <a:rPr lang="tr-TR" sz="1200">
                <a:ea typeface="+mn-lt"/>
                <a:cs typeface="+mn-lt"/>
              </a:rPr>
              <a:t> in </a:t>
            </a:r>
            <a:r>
              <a:rPr lang="tr-TR" sz="1200" err="1">
                <a:ea typeface="+mn-lt"/>
                <a:cs typeface="+mn-lt"/>
              </a:rPr>
              <a:t>Engineering</a:t>
            </a:r>
            <a:r>
              <a:rPr lang="tr-TR" sz="1200">
                <a:ea typeface="+mn-lt"/>
                <a:cs typeface="+mn-lt"/>
              </a:rPr>
              <a:t>, </a:t>
            </a:r>
            <a:r>
              <a:rPr lang="tr-TR" sz="1200" err="1">
                <a:ea typeface="+mn-lt"/>
                <a:cs typeface="+mn-lt"/>
              </a:rPr>
              <a:t>Science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and</a:t>
            </a:r>
            <a:r>
              <a:rPr lang="tr-TR" sz="1200">
                <a:ea typeface="+mn-lt"/>
                <a:cs typeface="+mn-lt"/>
              </a:rPr>
              <a:t> </a:t>
            </a:r>
            <a:r>
              <a:rPr lang="tr-TR" sz="1200" err="1">
                <a:ea typeface="+mn-lt"/>
                <a:cs typeface="+mn-lt"/>
              </a:rPr>
              <a:t>Manufacturing</a:t>
            </a:r>
            <a:r>
              <a:rPr lang="tr-TR" sz="1200">
                <a:ea typeface="+mn-lt"/>
                <a:cs typeface="+mn-lt"/>
              </a:rPr>
              <a:t> (ETESM-2018)</a:t>
            </a:r>
          </a:p>
          <a:p>
            <a:r>
              <a:rPr lang="en-US" sz="1200" b="0" i="0">
                <a:solidFill>
                  <a:srgbClr val="142855"/>
                </a:solidFill>
                <a:effectLst/>
                <a:latin typeface="Aptos"/>
              </a:rPr>
              <a:t>Humanoid Robot Market by Component (Hardware, Software), Motion Type (Biped, Wheel Drive), Application (Education and Entertainment, Research and Space Exploration, Personal Assistance and Caregiving) and Region – 2028</a:t>
            </a:r>
            <a:r>
              <a:rPr lang="tr-TR" sz="1200">
                <a:solidFill>
                  <a:srgbClr val="142855"/>
                </a:solidFill>
                <a:latin typeface="Aptos"/>
              </a:rPr>
              <a:t> 2023</a:t>
            </a:r>
            <a:endParaRPr lang="en-US" sz="1200" b="0" i="0">
              <a:solidFill>
                <a:srgbClr val="142855"/>
              </a:solidFill>
              <a:effectLst/>
              <a:latin typeface="Aptos"/>
            </a:endParaRPr>
          </a:p>
          <a:p>
            <a:r>
              <a:rPr lang="nl-NL" sz="1200"/>
              <a:t>Maartje M. A. de Graaf</a:t>
            </a:r>
            <a:r>
              <a:rPr lang="tr-TR" sz="1200"/>
              <a:t>,</a:t>
            </a:r>
            <a:r>
              <a:rPr lang="en-US" sz="1200"/>
              <a:t> </a:t>
            </a:r>
            <a:r>
              <a:rPr lang="en-US" sz="1200" err="1"/>
              <a:t>AnEthical</a:t>
            </a:r>
            <a:r>
              <a:rPr lang="en-US" sz="1200"/>
              <a:t> Evaluation of Human–Robot Relationships</a:t>
            </a:r>
            <a:r>
              <a:rPr lang="tr-TR" sz="1200"/>
              <a:t>,</a:t>
            </a:r>
            <a:r>
              <a:rPr lang="en-US" sz="1200"/>
              <a:t> Int J of Soc Robotics (2016) 8:589–598 DOI 10.1007/s12369-016-0368-5</a:t>
            </a:r>
            <a:endParaRPr lang="tr-TR" sz="1200"/>
          </a:p>
          <a:p>
            <a:r>
              <a:rPr lang="tr-TR" sz="1200" err="1"/>
              <a:t>Sven</a:t>
            </a:r>
            <a:r>
              <a:rPr lang="tr-TR" sz="1200"/>
              <a:t> </a:t>
            </a:r>
            <a:r>
              <a:rPr lang="tr-TR" sz="1200" err="1"/>
              <a:t>Behnke</a:t>
            </a:r>
            <a:r>
              <a:rPr lang="tr-TR" sz="1200"/>
              <a:t>,</a:t>
            </a:r>
            <a:r>
              <a:rPr lang="en-US" sz="1200"/>
              <a:t> Humanoid Robots – From Fiction to Reality?</a:t>
            </a:r>
            <a:r>
              <a:rPr lang="tr-TR" sz="1200"/>
              <a:t>,</a:t>
            </a:r>
            <a:r>
              <a:rPr lang="de-DE" sz="1200"/>
              <a:t> KI-Zeitschrift, 4/08, pp. 5-9, </a:t>
            </a:r>
            <a:r>
              <a:rPr lang="de-DE" sz="1200" err="1"/>
              <a:t>December</a:t>
            </a:r>
            <a:r>
              <a:rPr lang="de-DE" sz="1200"/>
              <a:t> 2008</a:t>
            </a:r>
            <a:endParaRPr lang="tr-TR" sz="1200">
              <a:solidFill>
                <a:srgbClr val="142855"/>
              </a:solidFill>
              <a:latin typeface="Aptos"/>
            </a:endParaRPr>
          </a:p>
          <a:p>
            <a:r>
              <a:rPr lang="de-DE" sz="1200">
                <a:ea typeface="+mn-lt"/>
                <a:cs typeface="+mn-lt"/>
              </a:rPr>
              <a:t>Carolina </a:t>
            </a:r>
            <a:r>
              <a:rPr lang="de-DE" sz="1200" err="1">
                <a:ea typeface="+mn-lt"/>
                <a:cs typeface="+mn-lt"/>
              </a:rPr>
              <a:t>Higuera</a:t>
            </a:r>
            <a:r>
              <a:rPr lang="de-DE" sz="1200">
                <a:ea typeface="+mn-lt"/>
                <a:cs typeface="+mn-lt"/>
              </a:rPr>
              <a:t>, </a:t>
            </a:r>
            <a:r>
              <a:rPr lang="de-DE" sz="1200" err="1">
                <a:ea typeface="+mn-lt"/>
                <a:cs typeface="+mn-lt"/>
              </a:rPr>
              <a:t>Akash</a:t>
            </a:r>
            <a:r>
              <a:rPr lang="de-DE" sz="1200">
                <a:ea typeface="+mn-lt"/>
                <a:cs typeface="+mn-lt"/>
              </a:rPr>
              <a:t> Sharma, </a:t>
            </a:r>
            <a:r>
              <a:rPr lang="de-DE" sz="1200" err="1">
                <a:ea typeface="+mn-lt"/>
                <a:cs typeface="+mn-lt"/>
              </a:rPr>
              <a:t>Chaithanya</a:t>
            </a:r>
            <a:r>
              <a:rPr lang="de-DE" sz="1200">
                <a:ea typeface="+mn-lt"/>
                <a:cs typeface="+mn-lt"/>
              </a:rPr>
              <a:t> Krishna </a:t>
            </a:r>
            <a:r>
              <a:rPr lang="de-DE" sz="1200" err="1">
                <a:ea typeface="+mn-lt"/>
                <a:cs typeface="+mn-lt"/>
              </a:rPr>
              <a:t>Bodduluri</a:t>
            </a:r>
            <a:r>
              <a:rPr lang="de-DE" sz="1200">
                <a:ea typeface="+mn-lt"/>
                <a:cs typeface="+mn-lt"/>
              </a:rPr>
              <a:t>, </a:t>
            </a:r>
            <a:r>
              <a:rPr lang="de-DE" sz="1200" err="1">
                <a:ea typeface="+mn-lt"/>
                <a:cs typeface="+mn-lt"/>
              </a:rPr>
              <a:t>Taosha</a:t>
            </a:r>
            <a:r>
              <a:rPr lang="de-DE" sz="1200">
                <a:ea typeface="+mn-lt"/>
                <a:cs typeface="+mn-lt"/>
              </a:rPr>
              <a:t> Fan, Patrick Lancaster, </a:t>
            </a:r>
            <a:r>
              <a:rPr lang="de-DE" sz="1200" err="1">
                <a:ea typeface="+mn-lt"/>
                <a:cs typeface="+mn-lt"/>
              </a:rPr>
              <a:t>Mrinal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Kalakrishnan</a:t>
            </a:r>
            <a:r>
              <a:rPr lang="de-DE" sz="1200">
                <a:ea typeface="+mn-lt"/>
                <a:cs typeface="+mn-lt"/>
              </a:rPr>
              <a:t>, Michael </a:t>
            </a:r>
            <a:r>
              <a:rPr lang="de-DE" sz="1200" err="1">
                <a:ea typeface="+mn-lt"/>
                <a:cs typeface="+mn-lt"/>
              </a:rPr>
              <a:t>Kaess</a:t>
            </a:r>
            <a:r>
              <a:rPr lang="de-DE" sz="1200">
                <a:ea typeface="+mn-lt"/>
                <a:cs typeface="+mn-lt"/>
              </a:rPr>
              <a:t>, Byron Boots, Mike </a:t>
            </a:r>
            <a:r>
              <a:rPr lang="de-DE" sz="1200" err="1">
                <a:ea typeface="+mn-lt"/>
                <a:cs typeface="+mn-lt"/>
              </a:rPr>
              <a:t>Lambeta</a:t>
            </a:r>
            <a:r>
              <a:rPr lang="de-DE" sz="1200">
                <a:ea typeface="+mn-lt"/>
                <a:cs typeface="+mn-lt"/>
              </a:rPr>
              <a:t>, </a:t>
            </a:r>
            <a:r>
              <a:rPr lang="de-DE" sz="1200" err="1">
                <a:ea typeface="+mn-lt"/>
                <a:cs typeface="+mn-lt"/>
              </a:rPr>
              <a:t>Tingfan</a:t>
            </a:r>
            <a:r>
              <a:rPr lang="de-DE" sz="1200">
                <a:ea typeface="+mn-lt"/>
                <a:cs typeface="+mn-lt"/>
              </a:rPr>
              <a:t>, Mustafa </a:t>
            </a:r>
            <a:r>
              <a:rPr lang="de-DE" sz="1200" err="1">
                <a:ea typeface="+mn-lt"/>
                <a:cs typeface="+mn-lt"/>
              </a:rPr>
              <a:t>Mukadam</a:t>
            </a:r>
            <a:r>
              <a:rPr lang="de-DE" sz="1200">
                <a:ea typeface="+mn-lt"/>
                <a:cs typeface="+mn-lt"/>
              </a:rPr>
              <a:t>. </a:t>
            </a:r>
            <a:r>
              <a:rPr lang="de-DE" sz="1200" err="1">
                <a:ea typeface="+mn-lt"/>
                <a:cs typeface="+mn-lt"/>
              </a:rPr>
              <a:t>Sparsh</a:t>
            </a:r>
            <a:r>
              <a:rPr lang="de-DE" sz="1200">
                <a:ea typeface="+mn-lt"/>
                <a:cs typeface="+mn-lt"/>
              </a:rPr>
              <a:t>: Self-</a:t>
            </a:r>
            <a:r>
              <a:rPr lang="de-DE" sz="1200" err="1">
                <a:ea typeface="+mn-lt"/>
                <a:cs typeface="+mn-lt"/>
              </a:rPr>
              <a:t>supervised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touch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representations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for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vision-based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tactile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sensing</a:t>
            </a:r>
            <a:r>
              <a:rPr lang="de-DE" sz="1200">
                <a:ea typeface="+mn-lt"/>
                <a:cs typeface="+mn-lt"/>
              </a:rPr>
              <a:t>, FAIR at </a:t>
            </a:r>
            <a:r>
              <a:rPr lang="de-DE" sz="1200" err="1">
                <a:ea typeface="+mn-lt"/>
                <a:cs typeface="+mn-lt"/>
              </a:rPr>
              <a:t>Meta</a:t>
            </a:r>
            <a:r>
              <a:rPr lang="de-DE" sz="1200">
                <a:ea typeface="+mn-lt"/>
                <a:cs typeface="+mn-lt"/>
              </a:rPr>
              <a:t>, University </a:t>
            </a:r>
            <a:r>
              <a:rPr lang="de-DE" sz="1200" err="1">
                <a:ea typeface="+mn-lt"/>
                <a:cs typeface="+mn-lt"/>
              </a:rPr>
              <a:t>of</a:t>
            </a:r>
            <a:r>
              <a:rPr lang="de-DE" sz="1200">
                <a:ea typeface="+mn-lt"/>
                <a:cs typeface="+mn-lt"/>
              </a:rPr>
              <a:t> Washington, Carnegie Mellon University, </a:t>
            </a:r>
            <a:r>
              <a:rPr lang="de-DE" sz="1200" err="1">
                <a:ea typeface="+mn-lt"/>
                <a:cs typeface="+mn-lt"/>
              </a:rPr>
              <a:t>Equal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contribution</a:t>
            </a:r>
            <a:endParaRPr lang="de-DE" sz="1200"/>
          </a:p>
          <a:p>
            <a:r>
              <a:rPr lang="de-DE" sz="1200">
                <a:ea typeface="+mn-lt"/>
                <a:cs typeface="+mn-lt"/>
              </a:rPr>
              <a:t>Mike </a:t>
            </a:r>
            <a:r>
              <a:rPr lang="de-DE" sz="1200" err="1">
                <a:ea typeface="+mn-lt"/>
                <a:cs typeface="+mn-lt"/>
              </a:rPr>
              <a:t>Lambeta</a:t>
            </a:r>
            <a:r>
              <a:rPr lang="de-DE" sz="1200">
                <a:ea typeface="+mn-lt"/>
                <a:cs typeface="+mn-lt"/>
              </a:rPr>
              <a:t>, </a:t>
            </a:r>
            <a:r>
              <a:rPr lang="de-DE" sz="1200" err="1">
                <a:ea typeface="+mn-lt"/>
                <a:cs typeface="+mn-lt"/>
              </a:rPr>
              <a:t>Tingfan</a:t>
            </a:r>
            <a:r>
              <a:rPr lang="de-DE" sz="1200">
                <a:ea typeface="+mn-lt"/>
                <a:cs typeface="+mn-lt"/>
              </a:rPr>
              <a:t> Wu, Ali Sengül, Victoria Rose Most, Nolan Black, Kevin Sawyer, Romeo Mercado, </a:t>
            </a:r>
            <a:r>
              <a:rPr lang="de-DE" sz="1200" err="1">
                <a:ea typeface="+mn-lt"/>
                <a:cs typeface="+mn-lt"/>
              </a:rPr>
              <a:t>Haozhi</a:t>
            </a:r>
            <a:r>
              <a:rPr lang="de-DE" sz="1200">
                <a:ea typeface="+mn-lt"/>
                <a:cs typeface="+mn-lt"/>
              </a:rPr>
              <a:t> Qi. </a:t>
            </a:r>
            <a:r>
              <a:rPr lang="de-DE" sz="1200" err="1">
                <a:ea typeface="+mn-lt"/>
                <a:cs typeface="+mn-lt"/>
              </a:rPr>
              <a:t>Digitizing</a:t>
            </a:r>
            <a:r>
              <a:rPr lang="de-DE" sz="1200">
                <a:ea typeface="+mn-lt"/>
                <a:cs typeface="+mn-lt"/>
              </a:rPr>
              <a:t> Touch </a:t>
            </a:r>
            <a:r>
              <a:rPr lang="de-DE" sz="1200" err="1">
                <a:ea typeface="+mn-lt"/>
                <a:cs typeface="+mn-lt"/>
              </a:rPr>
              <a:t>with</a:t>
            </a:r>
            <a:r>
              <a:rPr lang="de-DE" sz="1200">
                <a:ea typeface="+mn-lt"/>
                <a:cs typeface="+mn-lt"/>
              </a:rPr>
              <a:t> an </a:t>
            </a:r>
            <a:r>
              <a:rPr lang="de-DE" sz="1200" err="1">
                <a:ea typeface="+mn-lt"/>
                <a:cs typeface="+mn-lt"/>
              </a:rPr>
              <a:t>Artificial</a:t>
            </a:r>
            <a:r>
              <a:rPr lang="de-DE" sz="1200">
                <a:ea typeface="+mn-lt"/>
                <a:cs typeface="+mn-lt"/>
              </a:rPr>
              <a:t> Multimodal </a:t>
            </a:r>
            <a:r>
              <a:rPr lang="de-DE" sz="1200" err="1">
                <a:ea typeface="+mn-lt"/>
                <a:cs typeface="+mn-lt"/>
              </a:rPr>
              <a:t>Fingertip</a:t>
            </a:r>
            <a:r>
              <a:rPr lang="de-DE" sz="1200">
                <a:ea typeface="+mn-lt"/>
                <a:cs typeface="+mn-lt"/>
              </a:rPr>
              <a:t>, FAIR at </a:t>
            </a:r>
            <a:r>
              <a:rPr lang="de-DE" sz="1200" err="1">
                <a:ea typeface="+mn-lt"/>
                <a:cs typeface="+mn-lt"/>
              </a:rPr>
              <a:t>Meta</a:t>
            </a:r>
            <a:r>
              <a:rPr lang="de-DE" sz="1200">
                <a:ea typeface="+mn-lt"/>
                <a:cs typeface="+mn-lt"/>
              </a:rPr>
              <a:t>, Learning, Adaptive Systems, and Robotics (LASR) Lab, TU Dresden, The </a:t>
            </a:r>
            <a:r>
              <a:rPr lang="de-DE" sz="1200" err="1">
                <a:ea typeface="+mn-lt"/>
                <a:cs typeface="+mn-lt"/>
              </a:rPr>
              <a:t>Centre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for</a:t>
            </a:r>
            <a:r>
              <a:rPr lang="de-DE" sz="1200">
                <a:ea typeface="+mn-lt"/>
                <a:cs typeface="+mn-lt"/>
              </a:rPr>
              <a:t> </a:t>
            </a:r>
            <a:r>
              <a:rPr lang="de-DE" sz="1200" err="1">
                <a:ea typeface="+mn-lt"/>
                <a:cs typeface="+mn-lt"/>
              </a:rPr>
              <a:t>Tactile</a:t>
            </a:r>
            <a:r>
              <a:rPr lang="de-DE" sz="1200">
                <a:ea typeface="+mn-lt"/>
                <a:cs typeface="+mn-lt"/>
              </a:rPr>
              <a:t> Internet </a:t>
            </a:r>
            <a:r>
              <a:rPr lang="de-DE" sz="1200" err="1">
                <a:ea typeface="+mn-lt"/>
                <a:cs typeface="+mn-lt"/>
              </a:rPr>
              <a:t>with</a:t>
            </a:r>
            <a:r>
              <a:rPr lang="de-DE" sz="1200">
                <a:ea typeface="+mn-lt"/>
                <a:cs typeface="+mn-lt"/>
              </a:rPr>
              <a:t> Human-in-</a:t>
            </a:r>
            <a:r>
              <a:rPr lang="de-DE" sz="1200" err="1">
                <a:ea typeface="+mn-lt"/>
                <a:cs typeface="+mn-lt"/>
              </a:rPr>
              <a:t>the</a:t>
            </a:r>
            <a:r>
              <a:rPr lang="de-DE" sz="1200">
                <a:ea typeface="+mn-lt"/>
                <a:cs typeface="+mn-lt"/>
              </a:rPr>
              <a:t>-Loop (</a:t>
            </a:r>
            <a:r>
              <a:rPr lang="de-DE" sz="1200" err="1">
                <a:ea typeface="+mn-lt"/>
                <a:cs typeface="+mn-lt"/>
              </a:rPr>
              <a:t>CeTI</a:t>
            </a:r>
            <a:r>
              <a:rPr lang="de-DE" sz="1200">
                <a:ea typeface="+mn-lt"/>
                <a:cs typeface="+mn-lt"/>
              </a:rPr>
              <a:t>), University </a:t>
            </a:r>
            <a:r>
              <a:rPr lang="de-DE" sz="1200" err="1">
                <a:ea typeface="+mn-lt"/>
                <a:cs typeface="+mn-lt"/>
              </a:rPr>
              <a:t>of</a:t>
            </a:r>
            <a:r>
              <a:rPr lang="de-DE" sz="1200">
                <a:ea typeface="+mn-lt"/>
                <a:cs typeface="+mn-lt"/>
              </a:rPr>
              <a:t> California, Berkeley, </a:t>
            </a:r>
            <a:r>
              <a:rPr lang="de-DE" sz="1200" err="1">
                <a:ea typeface="+mn-lt"/>
                <a:cs typeface="+mn-lt"/>
              </a:rPr>
              <a:t>October</a:t>
            </a:r>
            <a:r>
              <a:rPr lang="de-DE" sz="1200">
                <a:ea typeface="+mn-lt"/>
                <a:cs typeface="+mn-lt"/>
              </a:rPr>
              <a:t> 31, 2024</a:t>
            </a:r>
            <a:endParaRPr lang="de-DE" sz="1200"/>
          </a:p>
          <a:p>
            <a:endParaRPr lang="en-US" sz="1200"/>
          </a:p>
          <a:p>
            <a:endParaRPr lang="tr-TR"/>
          </a:p>
          <a:p>
            <a:endParaRPr lang="tr-TR" sz="1200"/>
          </a:p>
          <a:p>
            <a:endParaRPr lang="tr-TR" sz="1200"/>
          </a:p>
          <a:p>
            <a:endParaRPr lang="tr-TR" sz="1000"/>
          </a:p>
          <a:p>
            <a:endParaRPr lang="tr-TR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5071E-BC9E-5BE8-84F4-396060A5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9693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ECD09220DDFADA40A2C2D6A5FC4B1B94" ma:contentTypeVersion="4" ma:contentTypeDescription="Yeni belge oluşturun." ma:contentTypeScope="" ma:versionID="aaaee23dc629fed90acb27c72d4011ca">
  <xsd:schema xmlns:xsd="http://www.w3.org/2001/XMLSchema" xmlns:xs="http://www.w3.org/2001/XMLSchema" xmlns:p="http://schemas.microsoft.com/office/2006/metadata/properties" xmlns:ns2="b2eee6ec-3302-4ac6-b08d-dcf1db2c0383" targetNamespace="http://schemas.microsoft.com/office/2006/metadata/properties" ma:root="true" ma:fieldsID="e7debdace962e86592f43d2ed146ddd7" ns2:_="">
    <xsd:import namespace="b2eee6ec-3302-4ac6-b08d-dcf1db2c03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eee6ec-3302-4ac6-b08d-dcf1db2c03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699835-8450-4939-956A-5D69A2FC4640}">
  <ds:schemaRefs>
    <ds:schemaRef ds:uri="b2eee6ec-3302-4ac6-b08d-dcf1db2c03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1E02C5A-718C-4EBD-B183-850463B0BFEC}">
  <ds:schemaRefs>
    <ds:schemaRef ds:uri="b2eee6ec-3302-4ac6-b08d-dcf1db2c038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3C1B3F8-1E9D-40AD-8F45-711AB05C31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Teması</vt:lpstr>
      <vt:lpstr>PowerPoint Presentation</vt:lpstr>
      <vt:lpstr>PowerPoint Presentation</vt:lpstr>
      <vt:lpstr>Brief History of Humanoid Robots </vt:lpstr>
      <vt:lpstr>Some Examples of Humanoid Robots </vt:lpstr>
      <vt:lpstr>Working Mechanisms Related to Ai in Humanoid Robots</vt:lpstr>
      <vt:lpstr>Working Mechanisms Related to Ai in Humanoid Robot</vt:lpstr>
      <vt:lpstr>Working Mechanisms Related to Ai in Humanoid Robots </vt:lpstr>
      <vt:lpstr>Working Mechanisms Related to AI in Humanoid Robots </vt:lpstr>
      <vt:lpstr>Working Mechanisms Related to AI in Humanoid Robots </vt:lpstr>
      <vt:lpstr>Working Mechanisms Related to AI in Humanoid Robots </vt:lpstr>
      <vt:lpstr>Economic Aspects of Humanoid Robots</vt:lpstr>
      <vt:lpstr>Ethic Aspects of Humanoid Robots </vt:lpstr>
      <vt:lpstr>Future of Humanoid Robots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2024-12-13T11:46:43Z</dcterms:created>
  <dcterms:modified xsi:type="dcterms:W3CDTF">2024-12-16T14:32:34Z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0x010100ECD09220DDFADA40A2C2D6A5FC4B1B94</vt:lpwstr>
  </property>
</Properties>
</file>